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Big Shoulders Display" charset="1" panose="00000000000000000000"/>
      <p:regular r:id="rId19"/>
    </p:embeddedFont>
    <p:embeddedFont>
      <p:font typeface="Arimo" charset="1" panose="020B06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4FBFE">
                <a:alpha val="100000"/>
              </a:srgbClr>
            </a:gs>
            <a:gs pos="74000">
              <a:srgbClr val="99DAF3">
                <a:alpha val="100000"/>
              </a:srgbClr>
            </a:gs>
            <a:gs pos="83000">
              <a:srgbClr val="99DAF3">
                <a:alpha val="100000"/>
              </a:srgbClr>
            </a:gs>
            <a:gs pos="100000">
              <a:srgbClr val="BBE6F7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329860">
            <a:off x="433245" y="1906238"/>
            <a:ext cx="1419520" cy="19050"/>
            <a:chOff x="0" y="0"/>
            <a:chExt cx="1892694" cy="25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92681" cy="25400"/>
            </a:xfrm>
            <a:custGeom>
              <a:avLst/>
              <a:gdLst/>
              <a:ahLst/>
              <a:cxnLst/>
              <a:rect r="r" b="b" t="t" l="l"/>
              <a:pathLst>
                <a:path h="25400" w="1892681">
                  <a:moveTo>
                    <a:pt x="12700" y="0"/>
                  </a:moveTo>
                  <a:lnTo>
                    <a:pt x="1879981" y="0"/>
                  </a:lnTo>
                  <a:cubicBezTo>
                    <a:pt x="1886966" y="0"/>
                    <a:pt x="1892681" y="5715"/>
                    <a:pt x="1892681" y="12700"/>
                  </a:cubicBezTo>
                  <a:cubicBezTo>
                    <a:pt x="1892681" y="19685"/>
                    <a:pt x="1886966" y="25400"/>
                    <a:pt x="1879981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1CADE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5002" y="-3"/>
            <a:ext cx="6104858" cy="10287000"/>
            <a:chOff x="0" y="0"/>
            <a:chExt cx="8139811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39811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8139811">
                  <a:moveTo>
                    <a:pt x="0" y="0"/>
                  </a:moveTo>
                  <a:lnTo>
                    <a:pt x="8139811" y="0"/>
                  </a:lnTo>
                  <a:lnTo>
                    <a:pt x="8139811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ADE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65058" y="960120"/>
            <a:ext cx="5144786" cy="8419852"/>
            <a:chOff x="0" y="0"/>
            <a:chExt cx="6859714" cy="112264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59651" cy="11226419"/>
            </a:xfrm>
            <a:custGeom>
              <a:avLst/>
              <a:gdLst/>
              <a:ahLst/>
              <a:cxnLst/>
              <a:rect r="r" b="b" t="t" l="l"/>
              <a:pathLst>
                <a:path h="11226419" w="6859651">
                  <a:moveTo>
                    <a:pt x="0" y="0"/>
                  </a:moveTo>
                  <a:lnTo>
                    <a:pt x="6859651" y="0"/>
                  </a:lnTo>
                  <a:lnTo>
                    <a:pt x="6859651" y="11226419"/>
                  </a:lnTo>
                  <a:lnTo>
                    <a:pt x="0" y="112264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0126" t="0" r="-160127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65058" y="1074420"/>
            <a:ext cx="5144786" cy="8305552"/>
            <a:chOff x="0" y="0"/>
            <a:chExt cx="6859714" cy="110740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59715" cy="11074072"/>
            </a:xfrm>
            <a:custGeom>
              <a:avLst/>
              <a:gdLst/>
              <a:ahLst/>
              <a:cxnLst/>
              <a:rect r="r" b="b" t="t" l="l"/>
              <a:pathLst>
                <a:path h="11074072" w="6859715">
                  <a:moveTo>
                    <a:pt x="0" y="0"/>
                  </a:moveTo>
                  <a:lnTo>
                    <a:pt x="6859715" y="0"/>
                  </a:lnTo>
                  <a:lnTo>
                    <a:pt x="6859715" y="11074072"/>
                  </a:lnTo>
                  <a:lnTo>
                    <a:pt x="0" y="110740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128" t="0" r="-157128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52400"/>
              <a:ext cx="6859714" cy="10921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7500" spc="164">
                  <a:solidFill>
                    <a:srgbClr val="FFFFFF"/>
                  </a:solidFill>
                  <a:latin typeface="Big Shoulders Display"/>
                  <a:ea typeface="Big Shoulders Display"/>
                  <a:cs typeface="Big Shoulders Display"/>
                  <a:sym typeface="Big Shoulders Display"/>
                </a:rPr>
                <a:t>JAVA MINI  PROJECT PRESENTATION 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095449" y="3224184"/>
            <a:ext cx="10666771" cy="2193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6"/>
              </a:lnSpc>
            </a:pPr>
          </a:p>
          <a:p>
            <a:pPr algn="l" marL="570071" indent="-190024" lvl="2">
              <a:lnSpc>
                <a:spcPts val="2916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Project Title: Restaurant order processing and Billing System </a:t>
            </a:r>
          </a:p>
          <a:p>
            <a:pPr algn="l" marL="570071" indent="-190024" lvl="2">
              <a:lnSpc>
                <a:spcPts val="2916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Course: Java Programming/ Mini Project</a:t>
            </a:r>
          </a:p>
          <a:p>
            <a:pPr algn="l" marL="570071" indent="-190024" lvl="2">
              <a:lnSpc>
                <a:spcPts val="2916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Student Name &amp; Roll No: B V JANAVATHSHA / 25BCS122</a:t>
            </a:r>
          </a:p>
          <a:p>
            <a:pPr algn="l" marL="570071" indent="-190024" lvl="2">
              <a:lnSpc>
                <a:spcPts val="2916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Department: Computer Science</a:t>
            </a:r>
          </a:p>
          <a:p>
            <a:pPr algn="l" marL="570071" indent="-190024" lvl="2">
              <a:lnSpc>
                <a:spcPts val="2916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Mentor / Guide: Mr Aravind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049729" y="349996"/>
            <a:ext cx="10115836" cy="2528983"/>
            <a:chOff x="0" y="0"/>
            <a:chExt cx="13487781" cy="3371977"/>
          </a:xfrm>
        </p:grpSpPr>
        <p:sp>
          <p:nvSpPr>
            <p:cNvPr name="Freeform 13" id="13" descr="A blue and red logo  AI-generated content may be incorrect."/>
            <p:cNvSpPr/>
            <p:nvPr/>
          </p:nvSpPr>
          <p:spPr>
            <a:xfrm flipH="false" flipV="false" rot="0">
              <a:off x="0" y="0"/>
              <a:ext cx="13487781" cy="3371977"/>
            </a:xfrm>
            <a:custGeom>
              <a:avLst/>
              <a:gdLst/>
              <a:ahLst/>
              <a:cxnLst/>
              <a:rect r="r" b="b" t="t" l="l"/>
              <a:pathLst>
                <a:path h="3371977" w="13487781">
                  <a:moveTo>
                    <a:pt x="0" y="0"/>
                  </a:moveTo>
                  <a:lnTo>
                    <a:pt x="13487781" y="0"/>
                  </a:lnTo>
                  <a:lnTo>
                    <a:pt x="13487781" y="3371977"/>
                  </a:lnTo>
                  <a:lnTo>
                    <a:pt x="0" y="3371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4FBFE">
                <a:alpha val="100000"/>
              </a:srgbClr>
            </a:gs>
            <a:gs pos="74000">
              <a:srgbClr val="99DAF3">
                <a:alpha val="100000"/>
              </a:srgbClr>
            </a:gs>
            <a:gs pos="83000">
              <a:srgbClr val="99DAF3">
                <a:alpha val="100000"/>
              </a:srgbClr>
            </a:gs>
            <a:gs pos="100000">
              <a:srgbClr val="BBE6F7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329860">
            <a:off x="433245" y="1906238"/>
            <a:ext cx="1419520" cy="19050"/>
            <a:chOff x="0" y="0"/>
            <a:chExt cx="1892694" cy="25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92681" cy="25400"/>
            </a:xfrm>
            <a:custGeom>
              <a:avLst/>
              <a:gdLst/>
              <a:ahLst/>
              <a:cxnLst/>
              <a:rect r="r" b="b" t="t" l="l"/>
              <a:pathLst>
                <a:path h="25400" w="1892681">
                  <a:moveTo>
                    <a:pt x="12700" y="0"/>
                  </a:moveTo>
                  <a:lnTo>
                    <a:pt x="1879981" y="0"/>
                  </a:lnTo>
                  <a:cubicBezTo>
                    <a:pt x="1886966" y="0"/>
                    <a:pt x="1892681" y="5715"/>
                    <a:pt x="1892681" y="12700"/>
                  </a:cubicBezTo>
                  <a:cubicBezTo>
                    <a:pt x="1892681" y="19685"/>
                    <a:pt x="1886966" y="25400"/>
                    <a:pt x="1879981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1CADE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159120" y="726948"/>
            <a:ext cx="13422249" cy="8821388"/>
            <a:chOff x="0" y="0"/>
            <a:chExt cx="17896332" cy="117618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896332" cy="11761851"/>
            </a:xfrm>
            <a:custGeom>
              <a:avLst/>
              <a:gdLst/>
              <a:ahLst/>
              <a:cxnLst/>
              <a:rect r="r" b="b" t="t" l="l"/>
              <a:pathLst>
                <a:path h="11761851" w="17896332">
                  <a:moveTo>
                    <a:pt x="0" y="0"/>
                  </a:moveTo>
                  <a:lnTo>
                    <a:pt x="17896332" y="0"/>
                  </a:lnTo>
                  <a:lnTo>
                    <a:pt x="17896332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40404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203993" y="1182624"/>
            <a:ext cx="11884895" cy="2249424"/>
            <a:chOff x="0" y="0"/>
            <a:chExt cx="15846527" cy="29992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846552" cy="2999232"/>
            </a:xfrm>
            <a:custGeom>
              <a:avLst/>
              <a:gdLst/>
              <a:ahLst/>
              <a:cxnLst/>
              <a:rect r="r" b="b" t="t" l="l"/>
              <a:pathLst>
                <a:path h="2999232" w="15846552">
                  <a:moveTo>
                    <a:pt x="0" y="0"/>
                  </a:moveTo>
                  <a:lnTo>
                    <a:pt x="15846552" y="0"/>
                  </a:lnTo>
                  <a:lnTo>
                    <a:pt x="15846552" y="2999232"/>
                  </a:lnTo>
                  <a:lnTo>
                    <a:pt x="0" y="2999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878" r="0" b="-5287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203993" y="1296924"/>
            <a:ext cx="11884895" cy="2135124"/>
            <a:chOff x="0" y="0"/>
            <a:chExt cx="15846527" cy="28468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846527" cy="2846832"/>
            </a:xfrm>
            <a:custGeom>
              <a:avLst/>
              <a:gdLst/>
              <a:ahLst/>
              <a:cxnLst/>
              <a:rect r="r" b="b" t="t" l="l"/>
              <a:pathLst>
                <a:path h="2846832" w="15846527">
                  <a:moveTo>
                    <a:pt x="0" y="0"/>
                  </a:moveTo>
                  <a:lnTo>
                    <a:pt x="15846527" y="0"/>
                  </a:lnTo>
                  <a:lnTo>
                    <a:pt x="15846527" y="2846832"/>
                  </a:lnTo>
                  <a:lnTo>
                    <a:pt x="0" y="2846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460" r="0" b="-5846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52400"/>
              <a:ext cx="15846527" cy="2694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7500" spc="164">
                  <a:solidFill>
                    <a:srgbClr val="FFFFFF"/>
                  </a:solidFill>
                  <a:latin typeface="Big Shoulders Display"/>
                  <a:ea typeface="Big Shoulders Display"/>
                  <a:cs typeface="Big Shoulders Display"/>
                  <a:sym typeface="Big Shoulders Display"/>
                </a:rPr>
                <a:t>Introduction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12727" y="726948"/>
            <a:ext cx="3193447" cy="8821388"/>
            <a:chOff x="0" y="0"/>
            <a:chExt cx="4257929" cy="117618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57929" cy="11761851"/>
            </a:xfrm>
            <a:custGeom>
              <a:avLst/>
              <a:gdLst/>
              <a:ahLst/>
              <a:cxnLst/>
              <a:rect r="r" b="b" t="t" l="l"/>
              <a:pathLst>
                <a:path h="11761851" w="4257929">
                  <a:moveTo>
                    <a:pt x="0" y="0"/>
                  </a:moveTo>
                  <a:lnTo>
                    <a:pt x="4257929" y="0"/>
                  </a:lnTo>
                  <a:lnTo>
                    <a:pt x="4257929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1CADE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-5329860">
            <a:off x="4101036" y="2211038"/>
            <a:ext cx="1419520" cy="19050"/>
            <a:chOff x="0" y="0"/>
            <a:chExt cx="1892694" cy="25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92681" cy="25400"/>
            </a:xfrm>
            <a:custGeom>
              <a:avLst/>
              <a:gdLst/>
              <a:ahLst/>
              <a:cxnLst/>
              <a:rect r="r" b="b" t="t" l="l"/>
              <a:pathLst>
                <a:path h="25400" w="1892681">
                  <a:moveTo>
                    <a:pt x="12700" y="0"/>
                  </a:moveTo>
                  <a:lnTo>
                    <a:pt x="1879981" y="0"/>
                  </a:lnTo>
                  <a:cubicBezTo>
                    <a:pt x="1886966" y="0"/>
                    <a:pt x="1892681" y="5715"/>
                    <a:pt x="1892681" y="12700"/>
                  </a:cubicBezTo>
                  <a:cubicBezTo>
                    <a:pt x="1892681" y="19685"/>
                    <a:pt x="1886966" y="25400"/>
                    <a:pt x="1879981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1CADE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49678" y="982247"/>
            <a:ext cx="2817019" cy="704278"/>
            <a:chOff x="0" y="0"/>
            <a:chExt cx="3756025" cy="939038"/>
          </a:xfrm>
        </p:grpSpPr>
        <p:sp>
          <p:nvSpPr>
            <p:cNvPr name="Freeform 18" id="18" descr="A blue and red logo  AI-generated content may be incorrect."/>
            <p:cNvSpPr/>
            <p:nvPr/>
          </p:nvSpPr>
          <p:spPr>
            <a:xfrm flipH="false" flipV="false" rot="0">
              <a:off x="0" y="0"/>
              <a:ext cx="3756025" cy="939038"/>
            </a:xfrm>
            <a:custGeom>
              <a:avLst/>
              <a:gdLst/>
              <a:ahLst/>
              <a:cxnLst/>
              <a:rect r="r" b="b" t="t" l="l"/>
              <a:pathLst>
                <a:path h="939038" w="3756025">
                  <a:moveTo>
                    <a:pt x="0" y="0"/>
                  </a:moveTo>
                  <a:lnTo>
                    <a:pt x="3756025" y="0"/>
                  </a:lnTo>
                  <a:lnTo>
                    <a:pt x="3756025" y="939038"/>
                  </a:lnTo>
                  <a:lnTo>
                    <a:pt x="0" y="939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49678" y="884901"/>
            <a:ext cx="2816990" cy="8419852"/>
            <a:chOff x="0" y="0"/>
            <a:chExt cx="3755987" cy="11226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756025" cy="11226419"/>
            </a:xfrm>
            <a:custGeom>
              <a:avLst/>
              <a:gdLst/>
              <a:ahLst/>
              <a:cxnLst/>
              <a:rect r="r" b="b" t="t" l="l"/>
              <a:pathLst>
                <a:path h="11226419" w="3756025">
                  <a:moveTo>
                    <a:pt x="0" y="0"/>
                  </a:moveTo>
                  <a:lnTo>
                    <a:pt x="3756025" y="0"/>
                  </a:lnTo>
                  <a:lnTo>
                    <a:pt x="3756025" y="11226419"/>
                  </a:lnTo>
                  <a:lnTo>
                    <a:pt x="0" y="112264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3757" t="0" r="-333755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49678" y="934907"/>
            <a:ext cx="2816981" cy="8369846"/>
            <a:chOff x="0" y="0"/>
            <a:chExt cx="3755974" cy="1115979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755975" cy="11159797"/>
            </a:xfrm>
            <a:custGeom>
              <a:avLst/>
              <a:gdLst/>
              <a:ahLst/>
              <a:cxnLst/>
              <a:rect r="r" b="b" t="t" l="l"/>
              <a:pathLst>
                <a:path h="11159797" w="3755975">
                  <a:moveTo>
                    <a:pt x="0" y="0"/>
                  </a:moveTo>
                  <a:lnTo>
                    <a:pt x="3755975" y="0"/>
                  </a:lnTo>
                  <a:lnTo>
                    <a:pt x="3755975" y="11159797"/>
                  </a:lnTo>
                  <a:lnTo>
                    <a:pt x="0" y="11159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1217" t="0" r="-331217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66675"/>
              <a:ext cx="3755974" cy="11093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3000" spc="154">
                  <a:solidFill>
                    <a:srgbClr val="FFFFFF"/>
                  </a:solidFill>
                  <a:latin typeface="Big Shoulders Display"/>
                  <a:ea typeface="Big Shoulders Display"/>
                  <a:cs typeface="Big Shoulders Display"/>
                  <a:sym typeface="Big Shoulders Display"/>
                </a:rPr>
                <a:t>JAVA MINI PROJECT PRESENTATION 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4275220" y="3241548"/>
            <a:ext cx="12813668" cy="449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9884" indent="-379961" lvl="2">
              <a:lnSpc>
                <a:spcPts val="6981"/>
              </a:lnSpc>
              <a:buFont typeface="Arial"/>
              <a:buChar char="⚬"/>
            </a:pPr>
            <a:r>
              <a:rPr lang="en-US" sz="4985" spc="108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The Restaurant Order Processing and Billing System is a Java-based application.</a:t>
            </a:r>
          </a:p>
          <a:p>
            <a:pPr algn="l" marL="1139884" indent="-379961" lvl="2">
              <a:lnSpc>
                <a:spcPts val="6981"/>
              </a:lnSpc>
              <a:buFont typeface="Arial"/>
              <a:buChar char="⚬"/>
            </a:pPr>
            <a:r>
              <a:rPr lang="en-US" sz="4985" spc="108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It helps manage customer orders efficiently.</a:t>
            </a:r>
          </a:p>
          <a:p>
            <a:pPr algn="l" marL="1139884" indent="-379961" lvl="2">
              <a:lnSpc>
                <a:spcPts val="6981"/>
              </a:lnSpc>
              <a:buFont typeface="Arial"/>
              <a:buChar char="⚬"/>
            </a:pPr>
            <a:r>
              <a:rPr lang="en-US" sz="4985" spc="108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Automates billing and reduces manual errors.</a:t>
            </a:r>
          </a:p>
          <a:p>
            <a:pPr algn="l" marL="1139884" indent="-379961" lvl="2">
              <a:lnSpc>
                <a:spcPts val="6981"/>
              </a:lnSpc>
              <a:buFont typeface="Arial"/>
              <a:buChar char="⚬"/>
            </a:pPr>
            <a:r>
              <a:rPr lang="en-US" sz="4985" spc="108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Provides a simple interface for order handling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4FBFE">
                <a:alpha val="100000"/>
              </a:srgbClr>
            </a:gs>
            <a:gs pos="74000">
              <a:srgbClr val="99DAF3">
                <a:alpha val="100000"/>
              </a:srgbClr>
            </a:gs>
            <a:gs pos="83000">
              <a:srgbClr val="99DAF3">
                <a:alpha val="100000"/>
              </a:srgbClr>
            </a:gs>
            <a:gs pos="100000">
              <a:srgbClr val="BBE6F7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329860">
            <a:off x="433245" y="1906238"/>
            <a:ext cx="1419520" cy="19050"/>
            <a:chOff x="0" y="0"/>
            <a:chExt cx="1892694" cy="25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92681" cy="25400"/>
            </a:xfrm>
            <a:custGeom>
              <a:avLst/>
              <a:gdLst/>
              <a:ahLst/>
              <a:cxnLst/>
              <a:rect r="r" b="b" t="t" l="l"/>
              <a:pathLst>
                <a:path h="25400" w="1892681">
                  <a:moveTo>
                    <a:pt x="12700" y="0"/>
                  </a:moveTo>
                  <a:lnTo>
                    <a:pt x="1879981" y="0"/>
                  </a:lnTo>
                  <a:cubicBezTo>
                    <a:pt x="1886966" y="0"/>
                    <a:pt x="1892681" y="5715"/>
                    <a:pt x="1892681" y="12700"/>
                  </a:cubicBezTo>
                  <a:cubicBezTo>
                    <a:pt x="1892681" y="19685"/>
                    <a:pt x="1886966" y="25400"/>
                    <a:pt x="1879981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1CADE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159120" y="726948"/>
            <a:ext cx="13422249" cy="8821388"/>
            <a:chOff x="0" y="0"/>
            <a:chExt cx="17896332" cy="117618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896332" cy="11761851"/>
            </a:xfrm>
            <a:custGeom>
              <a:avLst/>
              <a:gdLst/>
              <a:ahLst/>
              <a:cxnLst/>
              <a:rect r="r" b="b" t="t" l="l"/>
              <a:pathLst>
                <a:path h="11761851" w="17896332">
                  <a:moveTo>
                    <a:pt x="0" y="0"/>
                  </a:moveTo>
                  <a:lnTo>
                    <a:pt x="17896332" y="0"/>
                  </a:lnTo>
                  <a:lnTo>
                    <a:pt x="17896332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40404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203993" y="1182624"/>
            <a:ext cx="11884895" cy="2249424"/>
            <a:chOff x="0" y="0"/>
            <a:chExt cx="15846527" cy="29992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846552" cy="2999232"/>
            </a:xfrm>
            <a:custGeom>
              <a:avLst/>
              <a:gdLst/>
              <a:ahLst/>
              <a:cxnLst/>
              <a:rect r="r" b="b" t="t" l="l"/>
              <a:pathLst>
                <a:path h="2999232" w="15846552">
                  <a:moveTo>
                    <a:pt x="0" y="0"/>
                  </a:moveTo>
                  <a:lnTo>
                    <a:pt x="15846552" y="0"/>
                  </a:lnTo>
                  <a:lnTo>
                    <a:pt x="15846552" y="2999232"/>
                  </a:lnTo>
                  <a:lnTo>
                    <a:pt x="0" y="2999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878" r="0" b="-5287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203993" y="1296924"/>
            <a:ext cx="11884895" cy="2135124"/>
            <a:chOff x="0" y="0"/>
            <a:chExt cx="15846527" cy="28468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846527" cy="2846832"/>
            </a:xfrm>
            <a:custGeom>
              <a:avLst/>
              <a:gdLst/>
              <a:ahLst/>
              <a:cxnLst/>
              <a:rect r="r" b="b" t="t" l="l"/>
              <a:pathLst>
                <a:path h="2846832" w="15846527">
                  <a:moveTo>
                    <a:pt x="0" y="0"/>
                  </a:moveTo>
                  <a:lnTo>
                    <a:pt x="15846527" y="0"/>
                  </a:lnTo>
                  <a:lnTo>
                    <a:pt x="15846527" y="2846832"/>
                  </a:lnTo>
                  <a:lnTo>
                    <a:pt x="0" y="2846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460" r="0" b="-5846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52400"/>
              <a:ext cx="15846527" cy="2694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7500" spc="164">
                  <a:solidFill>
                    <a:srgbClr val="FFFFFF"/>
                  </a:solidFill>
                  <a:latin typeface="Big Shoulders Display"/>
                  <a:ea typeface="Big Shoulders Display"/>
                  <a:cs typeface="Big Shoulders Display"/>
                  <a:sym typeface="Big Shoulders Display"/>
                </a:rPr>
                <a:t>Objective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12727" y="726948"/>
            <a:ext cx="3193447" cy="8821388"/>
            <a:chOff x="0" y="0"/>
            <a:chExt cx="4257929" cy="117618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57929" cy="11761851"/>
            </a:xfrm>
            <a:custGeom>
              <a:avLst/>
              <a:gdLst/>
              <a:ahLst/>
              <a:cxnLst/>
              <a:rect r="r" b="b" t="t" l="l"/>
              <a:pathLst>
                <a:path h="11761851" w="4257929">
                  <a:moveTo>
                    <a:pt x="0" y="0"/>
                  </a:moveTo>
                  <a:lnTo>
                    <a:pt x="4257929" y="0"/>
                  </a:lnTo>
                  <a:lnTo>
                    <a:pt x="4257929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1CADE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-5329860">
            <a:off x="4101036" y="2211038"/>
            <a:ext cx="1419520" cy="19050"/>
            <a:chOff x="0" y="0"/>
            <a:chExt cx="1892694" cy="25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92681" cy="25400"/>
            </a:xfrm>
            <a:custGeom>
              <a:avLst/>
              <a:gdLst/>
              <a:ahLst/>
              <a:cxnLst/>
              <a:rect r="r" b="b" t="t" l="l"/>
              <a:pathLst>
                <a:path h="25400" w="1892681">
                  <a:moveTo>
                    <a:pt x="12700" y="0"/>
                  </a:moveTo>
                  <a:lnTo>
                    <a:pt x="1879981" y="0"/>
                  </a:lnTo>
                  <a:cubicBezTo>
                    <a:pt x="1886966" y="0"/>
                    <a:pt x="1892681" y="5715"/>
                    <a:pt x="1892681" y="12700"/>
                  </a:cubicBezTo>
                  <a:cubicBezTo>
                    <a:pt x="1892681" y="19685"/>
                    <a:pt x="1886966" y="25400"/>
                    <a:pt x="1879981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1CADE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49678" y="982247"/>
            <a:ext cx="2817019" cy="704278"/>
            <a:chOff x="0" y="0"/>
            <a:chExt cx="3756025" cy="939038"/>
          </a:xfrm>
        </p:grpSpPr>
        <p:sp>
          <p:nvSpPr>
            <p:cNvPr name="Freeform 18" id="18" descr="A blue and red logo  AI-generated content may be incorrect."/>
            <p:cNvSpPr/>
            <p:nvPr/>
          </p:nvSpPr>
          <p:spPr>
            <a:xfrm flipH="false" flipV="false" rot="0">
              <a:off x="0" y="0"/>
              <a:ext cx="3756025" cy="939038"/>
            </a:xfrm>
            <a:custGeom>
              <a:avLst/>
              <a:gdLst/>
              <a:ahLst/>
              <a:cxnLst/>
              <a:rect r="r" b="b" t="t" l="l"/>
              <a:pathLst>
                <a:path h="939038" w="3756025">
                  <a:moveTo>
                    <a:pt x="0" y="0"/>
                  </a:moveTo>
                  <a:lnTo>
                    <a:pt x="3756025" y="0"/>
                  </a:lnTo>
                  <a:lnTo>
                    <a:pt x="3756025" y="939038"/>
                  </a:lnTo>
                  <a:lnTo>
                    <a:pt x="0" y="939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49678" y="884901"/>
            <a:ext cx="2816990" cy="8419852"/>
            <a:chOff x="0" y="0"/>
            <a:chExt cx="3755987" cy="11226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756025" cy="11226419"/>
            </a:xfrm>
            <a:custGeom>
              <a:avLst/>
              <a:gdLst/>
              <a:ahLst/>
              <a:cxnLst/>
              <a:rect r="r" b="b" t="t" l="l"/>
              <a:pathLst>
                <a:path h="11226419" w="3756025">
                  <a:moveTo>
                    <a:pt x="0" y="0"/>
                  </a:moveTo>
                  <a:lnTo>
                    <a:pt x="3756025" y="0"/>
                  </a:lnTo>
                  <a:lnTo>
                    <a:pt x="3756025" y="11226419"/>
                  </a:lnTo>
                  <a:lnTo>
                    <a:pt x="0" y="112264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3757" t="0" r="-333755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49678" y="934907"/>
            <a:ext cx="2816981" cy="8369846"/>
            <a:chOff x="0" y="0"/>
            <a:chExt cx="3755974" cy="1115979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755975" cy="11159797"/>
            </a:xfrm>
            <a:custGeom>
              <a:avLst/>
              <a:gdLst/>
              <a:ahLst/>
              <a:cxnLst/>
              <a:rect r="r" b="b" t="t" l="l"/>
              <a:pathLst>
                <a:path h="11159797" w="3755975">
                  <a:moveTo>
                    <a:pt x="0" y="0"/>
                  </a:moveTo>
                  <a:lnTo>
                    <a:pt x="3755975" y="0"/>
                  </a:lnTo>
                  <a:lnTo>
                    <a:pt x="3755975" y="11159797"/>
                  </a:lnTo>
                  <a:lnTo>
                    <a:pt x="0" y="11159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1217" t="0" r="-331217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66675"/>
              <a:ext cx="3755974" cy="11093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3000" spc="154">
                  <a:solidFill>
                    <a:srgbClr val="FFFFFF"/>
                  </a:solidFill>
                  <a:latin typeface="Big Shoulders Display"/>
                  <a:ea typeface="Big Shoulders Display"/>
                  <a:cs typeface="Big Shoulders Display"/>
                  <a:sym typeface="Big Shoulders Display"/>
                </a:rPr>
                <a:t>JAVA MINI PROJECT PRESENTATION 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5203993" y="3521069"/>
            <a:ext cx="8179279" cy="307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339" indent="-323780" lvl="2">
              <a:lnSpc>
                <a:spcPts val="5948"/>
              </a:lnSpc>
              <a:buFont typeface="Arial"/>
              <a:buChar char="⚬"/>
            </a:pPr>
            <a:r>
              <a:rPr lang="en-US" sz="4249" spc="93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To simplify restaurant order management.</a:t>
            </a:r>
          </a:p>
          <a:p>
            <a:pPr algn="l" marL="971339" indent="-323780" lvl="2">
              <a:lnSpc>
                <a:spcPts val="5948"/>
              </a:lnSpc>
              <a:buFont typeface="Arial"/>
              <a:buChar char="⚬"/>
            </a:pPr>
            <a:r>
              <a:rPr lang="en-US" sz="4249" spc="93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To generate accurate bills automatically.</a:t>
            </a:r>
          </a:p>
          <a:p>
            <a:pPr algn="l" marL="971339" indent="-323780" lvl="2">
              <a:lnSpc>
                <a:spcPts val="5948"/>
              </a:lnSpc>
              <a:buFont typeface="Arial"/>
              <a:buChar char="⚬"/>
            </a:pPr>
            <a:r>
              <a:rPr lang="en-US" sz="4249" spc="93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To reduce human effort and time.</a:t>
            </a:r>
          </a:p>
          <a:p>
            <a:pPr algn="l" marL="971339" indent="-323780" lvl="2">
              <a:lnSpc>
                <a:spcPts val="5948"/>
              </a:lnSpc>
              <a:buFont typeface="Arial"/>
              <a:buChar char="⚬"/>
            </a:pPr>
            <a:r>
              <a:rPr lang="en-US" sz="4249" spc="93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To improve customer service efficiency.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4FBFE">
                <a:alpha val="100000"/>
              </a:srgbClr>
            </a:gs>
            <a:gs pos="74000">
              <a:srgbClr val="99DAF3">
                <a:alpha val="100000"/>
              </a:srgbClr>
            </a:gs>
            <a:gs pos="83000">
              <a:srgbClr val="99DAF3">
                <a:alpha val="100000"/>
              </a:srgbClr>
            </a:gs>
            <a:gs pos="100000">
              <a:srgbClr val="BBE6F7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329860">
            <a:off x="433245" y="1906238"/>
            <a:ext cx="1419520" cy="19050"/>
            <a:chOff x="0" y="0"/>
            <a:chExt cx="1892694" cy="25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92681" cy="25400"/>
            </a:xfrm>
            <a:custGeom>
              <a:avLst/>
              <a:gdLst/>
              <a:ahLst/>
              <a:cxnLst/>
              <a:rect r="r" b="b" t="t" l="l"/>
              <a:pathLst>
                <a:path h="25400" w="1892681">
                  <a:moveTo>
                    <a:pt x="12700" y="0"/>
                  </a:moveTo>
                  <a:lnTo>
                    <a:pt x="1879981" y="0"/>
                  </a:lnTo>
                  <a:cubicBezTo>
                    <a:pt x="1886966" y="0"/>
                    <a:pt x="1892681" y="5715"/>
                    <a:pt x="1892681" y="12700"/>
                  </a:cubicBezTo>
                  <a:cubicBezTo>
                    <a:pt x="1892681" y="19685"/>
                    <a:pt x="1886966" y="25400"/>
                    <a:pt x="1879981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1CADE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159120" y="726948"/>
            <a:ext cx="13422249" cy="8821388"/>
            <a:chOff x="0" y="0"/>
            <a:chExt cx="17896332" cy="117618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896332" cy="11761851"/>
            </a:xfrm>
            <a:custGeom>
              <a:avLst/>
              <a:gdLst/>
              <a:ahLst/>
              <a:cxnLst/>
              <a:rect r="r" b="b" t="t" l="l"/>
              <a:pathLst>
                <a:path h="11761851" w="17896332">
                  <a:moveTo>
                    <a:pt x="0" y="0"/>
                  </a:moveTo>
                  <a:lnTo>
                    <a:pt x="17896332" y="0"/>
                  </a:lnTo>
                  <a:lnTo>
                    <a:pt x="17896332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40404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203993" y="1182624"/>
            <a:ext cx="11884895" cy="2249424"/>
            <a:chOff x="0" y="0"/>
            <a:chExt cx="15846527" cy="29992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846552" cy="2999232"/>
            </a:xfrm>
            <a:custGeom>
              <a:avLst/>
              <a:gdLst/>
              <a:ahLst/>
              <a:cxnLst/>
              <a:rect r="r" b="b" t="t" l="l"/>
              <a:pathLst>
                <a:path h="2999232" w="15846552">
                  <a:moveTo>
                    <a:pt x="0" y="0"/>
                  </a:moveTo>
                  <a:lnTo>
                    <a:pt x="15846552" y="0"/>
                  </a:lnTo>
                  <a:lnTo>
                    <a:pt x="15846552" y="2999232"/>
                  </a:lnTo>
                  <a:lnTo>
                    <a:pt x="0" y="2999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878" r="0" b="-5287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203993" y="1296924"/>
            <a:ext cx="11884895" cy="2135124"/>
            <a:chOff x="0" y="0"/>
            <a:chExt cx="15846527" cy="28468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846527" cy="2846832"/>
            </a:xfrm>
            <a:custGeom>
              <a:avLst/>
              <a:gdLst/>
              <a:ahLst/>
              <a:cxnLst/>
              <a:rect r="r" b="b" t="t" l="l"/>
              <a:pathLst>
                <a:path h="2846832" w="15846527">
                  <a:moveTo>
                    <a:pt x="0" y="0"/>
                  </a:moveTo>
                  <a:lnTo>
                    <a:pt x="15846527" y="0"/>
                  </a:lnTo>
                  <a:lnTo>
                    <a:pt x="15846527" y="2846832"/>
                  </a:lnTo>
                  <a:lnTo>
                    <a:pt x="0" y="2846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460" r="0" b="-5846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52400"/>
              <a:ext cx="15846527" cy="2694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7500" spc="164">
                  <a:solidFill>
                    <a:srgbClr val="FFFFFF"/>
                  </a:solidFill>
                  <a:latin typeface="Big Shoulders Display"/>
                  <a:ea typeface="Big Shoulders Display"/>
                  <a:cs typeface="Big Shoulders Display"/>
                  <a:sym typeface="Big Shoulders Display"/>
                </a:rPr>
                <a:t>Problem Statement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12727" y="726948"/>
            <a:ext cx="3193447" cy="8821388"/>
            <a:chOff x="0" y="0"/>
            <a:chExt cx="4257929" cy="117618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57929" cy="11761851"/>
            </a:xfrm>
            <a:custGeom>
              <a:avLst/>
              <a:gdLst/>
              <a:ahLst/>
              <a:cxnLst/>
              <a:rect r="r" b="b" t="t" l="l"/>
              <a:pathLst>
                <a:path h="11761851" w="4257929">
                  <a:moveTo>
                    <a:pt x="0" y="0"/>
                  </a:moveTo>
                  <a:lnTo>
                    <a:pt x="4257929" y="0"/>
                  </a:lnTo>
                  <a:lnTo>
                    <a:pt x="4257929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1CADE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-5329860">
            <a:off x="4101036" y="2211038"/>
            <a:ext cx="1419520" cy="19050"/>
            <a:chOff x="0" y="0"/>
            <a:chExt cx="1892694" cy="25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92681" cy="25400"/>
            </a:xfrm>
            <a:custGeom>
              <a:avLst/>
              <a:gdLst/>
              <a:ahLst/>
              <a:cxnLst/>
              <a:rect r="r" b="b" t="t" l="l"/>
              <a:pathLst>
                <a:path h="25400" w="1892681">
                  <a:moveTo>
                    <a:pt x="12700" y="0"/>
                  </a:moveTo>
                  <a:lnTo>
                    <a:pt x="1879981" y="0"/>
                  </a:lnTo>
                  <a:cubicBezTo>
                    <a:pt x="1886966" y="0"/>
                    <a:pt x="1892681" y="5715"/>
                    <a:pt x="1892681" y="12700"/>
                  </a:cubicBezTo>
                  <a:cubicBezTo>
                    <a:pt x="1892681" y="19685"/>
                    <a:pt x="1886966" y="25400"/>
                    <a:pt x="1879981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1CADE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49678" y="982247"/>
            <a:ext cx="2817019" cy="704278"/>
            <a:chOff x="0" y="0"/>
            <a:chExt cx="3756025" cy="939038"/>
          </a:xfrm>
        </p:grpSpPr>
        <p:sp>
          <p:nvSpPr>
            <p:cNvPr name="Freeform 18" id="18" descr="A blue and red logo  AI-generated content may be incorrect."/>
            <p:cNvSpPr/>
            <p:nvPr/>
          </p:nvSpPr>
          <p:spPr>
            <a:xfrm flipH="false" flipV="false" rot="0">
              <a:off x="0" y="0"/>
              <a:ext cx="3756025" cy="939038"/>
            </a:xfrm>
            <a:custGeom>
              <a:avLst/>
              <a:gdLst/>
              <a:ahLst/>
              <a:cxnLst/>
              <a:rect r="r" b="b" t="t" l="l"/>
              <a:pathLst>
                <a:path h="939038" w="3756025">
                  <a:moveTo>
                    <a:pt x="0" y="0"/>
                  </a:moveTo>
                  <a:lnTo>
                    <a:pt x="3756025" y="0"/>
                  </a:lnTo>
                  <a:lnTo>
                    <a:pt x="3756025" y="939038"/>
                  </a:lnTo>
                  <a:lnTo>
                    <a:pt x="0" y="939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49678" y="884901"/>
            <a:ext cx="2816990" cy="8419852"/>
            <a:chOff x="0" y="0"/>
            <a:chExt cx="3755987" cy="11226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756025" cy="11226419"/>
            </a:xfrm>
            <a:custGeom>
              <a:avLst/>
              <a:gdLst/>
              <a:ahLst/>
              <a:cxnLst/>
              <a:rect r="r" b="b" t="t" l="l"/>
              <a:pathLst>
                <a:path h="11226419" w="3756025">
                  <a:moveTo>
                    <a:pt x="0" y="0"/>
                  </a:moveTo>
                  <a:lnTo>
                    <a:pt x="3756025" y="0"/>
                  </a:lnTo>
                  <a:lnTo>
                    <a:pt x="3756025" y="11226419"/>
                  </a:lnTo>
                  <a:lnTo>
                    <a:pt x="0" y="112264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3757" t="0" r="-333755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49678" y="934907"/>
            <a:ext cx="2816981" cy="8369846"/>
            <a:chOff x="0" y="0"/>
            <a:chExt cx="3755974" cy="1115979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755975" cy="11159797"/>
            </a:xfrm>
            <a:custGeom>
              <a:avLst/>
              <a:gdLst/>
              <a:ahLst/>
              <a:cxnLst/>
              <a:rect r="r" b="b" t="t" l="l"/>
              <a:pathLst>
                <a:path h="11159797" w="3755975">
                  <a:moveTo>
                    <a:pt x="0" y="0"/>
                  </a:moveTo>
                  <a:lnTo>
                    <a:pt x="3755975" y="0"/>
                  </a:lnTo>
                  <a:lnTo>
                    <a:pt x="3755975" y="11159797"/>
                  </a:lnTo>
                  <a:lnTo>
                    <a:pt x="0" y="11159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1217" t="0" r="-331217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66675"/>
              <a:ext cx="3755974" cy="11093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3000" spc="154">
                  <a:solidFill>
                    <a:srgbClr val="FFFFFF"/>
                  </a:solidFill>
                  <a:latin typeface="Big Shoulders Display"/>
                  <a:ea typeface="Big Shoulders Display"/>
                  <a:cs typeface="Big Shoulders Display"/>
                  <a:sym typeface="Big Shoulders Display"/>
                </a:rPr>
                <a:t>JAVA MINI PROJECT PRESENTATION 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4779369" y="3310290"/>
            <a:ext cx="12596336" cy="401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3701" indent="-421234" lvl="2">
              <a:lnSpc>
                <a:spcPts val="7738"/>
              </a:lnSpc>
              <a:buFont typeface="Arial"/>
              <a:buChar char="⚬"/>
            </a:pPr>
            <a:r>
              <a:rPr lang="en-US" sz="5528" spc="121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Manual billing is time-consuming and error-prone.</a:t>
            </a:r>
          </a:p>
          <a:p>
            <a:pPr algn="l" marL="1263701" indent="-421234" lvl="2">
              <a:lnSpc>
                <a:spcPts val="7738"/>
              </a:lnSpc>
              <a:buFont typeface="Arial"/>
              <a:buChar char="⚬"/>
            </a:pPr>
            <a:r>
              <a:rPr lang="en-US" sz="5528" spc="121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Difficulty in managing multiple orders.</a:t>
            </a:r>
          </a:p>
          <a:p>
            <a:pPr algn="l" marL="1263701" indent="-421234" lvl="2">
              <a:lnSpc>
                <a:spcPts val="7738"/>
              </a:lnSpc>
              <a:buFont typeface="Arial"/>
              <a:buChar char="⚬"/>
            </a:pPr>
            <a:r>
              <a:rPr lang="en-US" sz="5528" spc="121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Lack of proper record maintenance.</a:t>
            </a:r>
          </a:p>
          <a:p>
            <a:pPr algn="l" marL="1263701" indent="-421234" lvl="2">
              <a:lnSpc>
                <a:spcPts val="7738"/>
              </a:lnSpc>
              <a:buFont typeface="Arial"/>
              <a:buChar char="⚬"/>
            </a:pPr>
            <a:r>
              <a:rPr lang="en-US" sz="5528" spc="121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Inefficient tracking of items and prices.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4FBFE">
                <a:alpha val="100000"/>
              </a:srgbClr>
            </a:gs>
            <a:gs pos="74000">
              <a:srgbClr val="99DAF3">
                <a:alpha val="100000"/>
              </a:srgbClr>
            </a:gs>
            <a:gs pos="83000">
              <a:srgbClr val="99DAF3">
                <a:alpha val="100000"/>
              </a:srgbClr>
            </a:gs>
            <a:gs pos="100000">
              <a:srgbClr val="BBE6F7">
                <a:alpha val="100000"/>
              </a:srgbClr>
            </a:gs>
          </a:gsLst>
          <a:lin ang="5400012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6140">
            <a:off x="433187" y="1906276"/>
            <a:ext cx="1419568" cy="0"/>
          </a:xfrm>
          <a:prstGeom prst="line">
            <a:avLst/>
          </a:prstGeom>
          <a:ln cap="rnd" w="19050">
            <a:solidFill>
              <a:srgbClr val="1CAD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4159120" y="726948"/>
            <a:ext cx="13422249" cy="8821388"/>
            <a:chOff x="0" y="0"/>
            <a:chExt cx="17896332" cy="117618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896332" cy="11761851"/>
            </a:xfrm>
            <a:custGeom>
              <a:avLst/>
              <a:gdLst/>
              <a:ahLst/>
              <a:cxnLst/>
              <a:rect r="r" b="b" t="t" l="l"/>
              <a:pathLst>
                <a:path h="11761851" w="17896332">
                  <a:moveTo>
                    <a:pt x="0" y="0"/>
                  </a:moveTo>
                  <a:lnTo>
                    <a:pt x="17896332" y="0"/>
                  </a:lnTo>
                  <a:lnTo>
                    <a:pt x="17896332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40404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203993" y="1182624"/>
            <a:ext cx="11884895" cy="2249424"/>
            <a:chOff x="0" y="0"/>
            <a:chExt cx="15846527" cy="29992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846552" cy="2999232"/>
            </a:xfrm>
            <a:custGeom>
              <a:avLst/>
              <a:gdLst/>
              <a:ahLst/>
              <a:cxnLst/>
              <a:rect r="r" b="b" t="t" l="l"/>
              <a:pathLst>
                <a:path h="2999232" w="15846552">
                  <a:moveTo>
                    <a:pt x="0" y="0"/>
                  </a:moveTo>
                  <a:lnTo>
                    <a:pt x="15846552" y="0"/>
                  </a:lnTo>
                  <a:lnTo>
                    <a:pt x="15846552" y="2999232"/>
                  </a:lnTo>
                  <a:lnTo>
                    <a:pt x="0" y="2999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878" r="0" b="-5287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203993" y="1296924"/>
            <a:ext cx="11884952" cy="2135029"/>
            <a:chOff x="0" y="0"/>
            <a:chExt cx="15846603" cy="28467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846600" cy="2846700"/>
            </a:xfrm>
            <a:custGeom>
              <a:avLst/>
              <a:gdLst/>
              <a:ahLst/>
              <a:cxnLst/>
              <a:rect r="r" b="b" t="t" l="l"/>
              <a:pathLst>
                <a:path h="2846700" w="15846600">
                  <a:moveTo>
                    <a:pt x="0" y="0"/>
                  </a:moveTo>
                  <a:lnTo>
                    <a:pt x="15846600" y="0"/>
                  </a:lnTo>
                  <a:lnTo>
                    <a:pt x="15846600" y="2846700"/>
                  </a:lnTo>
                  <a:lnTo>
                    <a:pt x="0" y="2846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466" r="0" b="-5846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15846603" cy="2827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500">
                  <a:solidFill>
                    <a:srgbClr val="FFFFFF"/>
                  </a:solidFill>
                  <a:latin typeface="Big Shoulders Display"/>
                  <a:ea typeface="Big Shoulders Display"/>
                  <a:cs typeface="Big Shoulders Display"/>
                  <a:sym typeface="Big Shoulders Display"/>
                </a:rPr>
                <a:t>System Requirements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2727" y="726948"/>
            <a:ext cx="3193447" cy="8821388"/>
            <a:chOff x="0" y="0"/>
            <a:chExt cx="4257929" cy="1176185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57929" cy="11761851"/>
            </a:xfrm>
            <a:custGeom>
              <a:avLst/>
              <a:gdLst/>
              <a:ahLst/>
              <a:cxnLst/>
              <a:rect r="r" b="b" t="t" l="l"/>
              <a:pathLst>
                <a:path h="11761851" w="4257929">
                  <a:moveTo>
                    <a:pt x="0" y="0"/>
                  </a:moveTo>
                  <a:lnTo>
                    <a:pt x="4257929" y="0"/>
                  </a:lnTo>
                  <a:lnTo>
                    <a:pt x="4257929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1CADE4"/>
            </a:solidFill>
          </p:spPr>
        </p:sp>
      </p:grpSp>
      <p:sp>
        <p:nvSpPr>
          <p:cNvPr name="AutoShape 14" id="14"/>
          <p:cNvSpPr/>
          <p:nvPr/>
        </p:nvSpPr>
        <p:spPr>
          <a:xfrm rot="46140">
            <a:off x="4100979" y="2211076"/>
            <a:ext cx="1419568" cy="0"/>
          </a:xfrm>
          <a:prstGeom prst="line">
            <a:avLst/>
          </a:prstGeom>
          <a:ln cap="rnd" w="19050">
            <a:solidFill>
              <a:srgbClr val="1CAD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849678" y="982247"/>
            <a:ext cx="2817019" cy="704278"/>
            <a:chOff x="0" y="0"/>
            <a:chExt cx="3756025" cy="939038"/>
          </a:xfrm>
        </p:grpSpPr>
        <p:sp>
          <p:nvSpPr>
            <p:cNvPr name="Freeform 16" id="16" descr="A blue and red logo  AI-generated content may be incorrect."/>
            <p:cNvSpPr/>
            <p:nvPr/>
          </p:nvSpPr>
          <p:spPr>
            <a:xfrm flipH="false" flipV="false" rot="0">
              <a:off x="0" y="0"/>
              <a:ext cx="3756025" cy="939038"/>
            </a:xfrm>
            <a:custGeom>
              <a:avLst/>
              <a:gdLst/>
              <a:ahLst/>
              <a:cxnLst/>
              <a:rect r="r" b="b" t="t" l="l"/>
              <a:pathLst>
                <a:path h="939038" w="3756025">
                  <a:moveTo>
                    <a:pt x="0" y="0"/>
                  </a:moveTo>
                  <a:lnTo>
                    <a:pt x="3756025" y="0"/>
                  </a:lnTo>
                  <a:lnTo>
                    <a:pt x="3756025" y="939038"/>
                  </a:lnTo>
                  <a:lnTo>
                    <a:pt x="0" y="939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49678" y="884901"/>
            <a:ext cx="2816981" cy="8419852"/>
            <a:chOff x="0" y="0"/>
            <a:chExt cx="3755974" cy="11226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56025" cy="11226419"/>
            </a:xfrm>
            <a:custGeom>
              <a:avLst/>
              <a:gdLst/>
              <a:ahLst/>
              <a:cxnLst/>
              <a:rect r="r" b="b" t="t" l="l"/>
              <a:pathLst>
                <a:path h="11226419" w="3756025">
                  <a:moveTo>
                    <a:pt x="0" y="0"/>
                  </a:moveTo>
                  <a:lnTo>
                    <a:pt x="3756025" y="0"/>
                  </a:lnTo>
                  <a:lnTo>
                    <a:pt x="3756025" y="11226419"/>
                  </a:lnTo>
                  <a:lnTo>
                    <a:pt x="0" y="112264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3757" t="0" r="-333755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49678" y="934907"/>
            <a:ext cx="2817000" cy="8369779"/>
            <a:chOff x="0" y="0"/>
            <a:chExt cx="3756000" cy="1115970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756000" cy="11159701"/>
            </a:xfrm>
            <a:custGeom>
              <a:avLst/>
              <a:gdLst/>
              <a:ahLst/>
              <a:cxnLst/>
              <a:rect r="r" b="b" t="t" l="l"/>
              <a:pathLst>
                <a:path h="11159701" w="3756000">
                  <a:moveTo>
                    <a:pt x="0" y="0"/>
                  </a:moveTo>
                  <a:lnTo>
                    <a:pt x="3756000" y="0"/>
                  </a:lnTo>
                  <a:lnTo>
                    <a:pt x="3756000" y="11159701"/>
                  </a:lnTo>
                  <a:lnTo>
                    <a:pt x="0" y="111597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1211" t="0" r="-331211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3756000" cy="11150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4"/>
                </a:lnSpc>
              </a:pPr>
              <a:r>
                <a:rPr lang="en-US" sz="3000">
                  <a:solidFill>
                    <a:srgbClr val="FFFFFF"/>
                  </a:solidFill>
                  <a:latin typeface="Big Shoulders Display"/>
                  <a:ea typeface="Big Shoulders Display"/>
                  <a:cs typeface="Big Shoulders Display"/>
                  <a:sym typeface="Big Shoulders Display"/>
                </a:rPr>
                <a:t>JAVA MINI PROJECT PRESENTATION 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811708" y="3035970"/>
            <a:ext cx="4334762" cy="6685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56"/>
              </a:lnSpc>
            </a:pPr>
            <a:r>
              <a:rPr lang="en-US" sz="3366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Hardware Requirements:</a:t>
            </a:r>
          </a:p>
          <a:p>
            <a:pPr algn="l" marL="769715" indent="-256572" lvl="2">
              <a:lnSpc>
                <a:spcPts val="5656"/>
              </a:lnSpc>
              <a:buFont typeface="Arial"/>
              <a:buChar char="⚬"/>
            </a:pPr>
            <a:r>
              <a:rPr lang="en-US" sz="3366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Computer/Laptop</a:t>
            </a:r>
          </a:p>
          <a:p>
            <a:pPr algn="l" marL="769715" indent="-256572" lvl="2">
              <a:lnSpc>
                <a:spcPts val="5656"/>
              </a:lnSpc>
              <a:buFont typeface="Arial"/>
              <a:buChar char="⚬"/>
            </a:pPr>
            <a:r>
              <a:rPr lang="en-US" sz="3366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Minimum 4GB RAM</a:t>
            </a:r>
          </a:p>
          <a:p>
            <a:pPr algn="l" marL="769715" indent="-256572" lvl="2">
              <a:lnSpc>
                <a:spcPts val="5656"/>
              </a:lnSpc>
            </a:pPr>
            <a:r>
              <a:rPr lang="en-US" sz="3366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Software Requirements:</a:t>
            </a:r>
          </a:p>
          <a:p>
            <a:pPr algn="l" marL="769715" indent="-256572" lvl="2">
              <a:lnSpc>
                <a:spcPts val="5656"/>
              </a:lnSpc>
              <a:buFont typeface="Arial"/>
              <a:buChar char="⚬"/>
            </a:pPr>
            <a:r>
              <a:rPr lang="en-US" sz="3366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Java (JDK 8 or above)</a:t>
            </a:r>
          </a:p>
          <a:p>
            <a:pPr algn="l" marL="769715" indent="-256572" lvl="2">
              <a:lnSpc>
                <a:spcPts val="5656"/>
              </a:lnSpc>
              <a:buFont typeface="Arial"/>
              <a:buChar char="⚬"/>
            </a:pPr>
            <a:r>
              <a:rPr lang="en-US" sz="3366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IDE (Eclipse / IntelliJ / NetBeans)</a:t>
            </a:r>
          </a:p>
          <a:p>
            <a:pPr algn="l" marL="769715" indent="-256572" lvl="2">
              <a:lnSpc>
                <a:spcPts val="5656"/>
              </a:lnSpc>
              <a:buFont typeface="Arial"/>
              <a:buChar char="⚬"/>
            </a:pPr>
            <a:r>
              <a:rPr lang="en-US" sz="3366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Operating System (Windows/Linux)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4FBFE">
                <a:alpha val="100000"/>
              </a:srgbClr>
            </a:gs>
            <a:gs pos="74000">
              <a:srgbClr val="99DAF3">
                <a:alpha val="100000"/>
              </a:srgbClr>
            </a:gs>
            <a:gs pos="83000">
              <a:srgbClr val="99DAF3">
                <a:alpha val="100000"/>
              </a:srgbClr>
            </a:gs>
            <a:gs pos="100000">
              <a:srgbClr val="BBE6F7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329860">
            <a:off x="433245" y="1906238"/>
            <a:ext cx="1419520" cy="19050"/>
            <a:chOff x="0" y="0"/>
            <a:chExt cx="1892694" cy="25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92681" cy="25400"/>
            </a:xfrm>
            <a:custGeom>
              <a:avLst/>
              <a:gdLst/>
              <a:ahLst/>
              <a:cxnLst/>
              <a:rect r="r" b="b" t="t" l="l"/>
              <a:pathLst>
                <a:path h="25400" w="1892681">
                  <a:moveTo>
                    <a:pt x="12700" y="0"/>
                  </a:moveTo>
                  <a:lnTo>
                    <a:pt x="1879981" y="0"/>
                  </a:lnTo>
                  <a:cubicBezTo>
                    <a:pt x="1886966" y="0"/>
                    <a:pt x="1892681" y="5715"/>
                    <a:pt x="1892681" y="12700"/>
                  </a:cubicBezTo>
                  <a:cubicBezTo>
                    <a:pt x="1892681" y="19685"/>
                    <a:pt x="1886966" y="25400"/>
                    <a:pt x="1879981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1CADE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159120" y="726948"/>
            <a:ext cx="13422249" cy="8821388"/>
            <a:chOff x="0" y="0"/>
            <a:chExt cx="17896332" cy="117618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896332" cy="11761851"/>
            </a:xfrm>
            <a:custGeom>
              <a:avLst/>
              <a:gdLst/>
              <a:ahLst/>
              <a:cxnLst/>
              <a:rect r="r" b="b" t="t" l="l"/>
              <a:pathLst>
                <a:path h="11761851" w="17896332">
                  <a:moveTo>
                    <a:pt x="0" y="0"/>
                  </a:moveTo>
                  <a:lnTo>
                    <a:pt x="17896332" y="0"/>
                  </a:lnTo>
                  <a:lnTo>
                    <a:pt x="17896332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40404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203993" y="1182624"/>
            <a:ext cx="11884895" cy="2249424"/>
            <a:chOff x="0" y="0"/>
            <a:chExt cx="15846527" cy="29992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846552" cy="2999232"/>
            </a:xfrm>
            <a:custGeom>
              <a:avLst/>
              <a:gdLst/>
              <a:ahLst/>
              <a:cxnLst/>
              <a:rect r="r" b="b" t="t" l="l"/>
              <a:pathLst>
                <a:path h="2999232" w="15846552">
                  <a:moveTo>
                    <a:pt x="0" y="0"/>
                  </a:moveTo>
                  <a:lnTo>
                    <a:pt x="15846552" y="0"/>
                  </a:lnTo>
                  <a:lnTo>
                    <a:pt x="15846552" y="2999232"/>
                  </a:lnTo>
                  <a:lnTo>
                    <a:pt x="0" y="2999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878" r="0" b="-5287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203993" y="1296924"/>
            <a:ext cx="11884895" cy="2135124"/>
            <a:chOff x="0" y="0"/>
            <a:chExt cx="15846527" cy="28468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846527" cy="2846832"/>
            </a:xfrm>
            <a:custGeom>
              <a:avLst/>
              <a:gdLst/>
              <a:ahLst/>
              <a:cxnLst/>
              <a:rect r="r" b="b" t="t" l="l"/>
              <a:pathLst>
                <a:path h="2846832" w="15846527">
                  <a:moveTo>
                    <a:pt x="0" y="0"/>
                  </a:moveTo>
                  <a:lnTo>
                    <a:pt x="15846527" y="0"/>
                  </a:lnTo>
                  <a:lnTo>
                    <a:pt x="15846527" y="2846832"/>
                  </a:lnTo>
                  <a:lnTo>
                    <a:pt x="0" y="2846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460" r="0" b="-5846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52400"/>
              <a:ext cx="15846527" cy="2694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7500" spc="164">
                  <a:solidFill>
                    <a:srgbClr val="FFFFFF"/>
                  </a:solidFill>
                  <a:latin typeface="Big Shoulders Display"/>
                  <a:ea typeface="Big Shoulders Display"/>
                  <a:cs typeface="Big Shoulders Display"/>
                  <a:sym typeface="Big Shoulders Display"/>
                </a:rPr>
                <a:t>System Design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12727" y="726948"/>
            <a:ext cx="3193447" cy="8821388"/>
            <a:chOff x="0" y="0"/>
            <a:chExt cx="4257929" cy="117618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57929" cy="11761851"/>
            </a:xfrm>
            <a:custGeom>
              <a:avLst/>
              <a:gdLst/>
              <a:ahLst/>
              <a:cxnLst/>
              <a:rect r="r" b="b" t="t" l="l"/>
              <a:pathLst>
                <a:path h="11761851" w="4257929">
                  <a:moveTo>
                    <a:pt x="0" y="0"/>
                  </a:moveTo>
                  <a:lnTo>
                    <a:pt x="4257929" y="0"/>
                  </a:lnTo>
                  <a:lnTo>
                    <a:pt x="4257929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1CADE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-5329860">
            <a:off x="4101036" y="2211038"/>
            <a:ext cx="1419520" cy="19050"/>
            <a:chOff x="0" y="0"/>
            <a:chExt cx="1892694" cy="25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92681" cy="25400"/>
            </a:xfrm>
            <a:custGeom>
              <a:avLst/>
              <a:gdLst/>
              <a:ahLst/>
              <a:cxnLst/>
              <a:rect r="r" b="b" t="t" l="l"/>
              <a:pathLst>
                <a:path h="25400" w="1892681">
                  <a:moveTo>
                    <a:pt x="12700" y="0"/>
                  </a:moveTo>
                  <a:lnTo>
                    <a:pt x="1879981" y="0"/>
                  </a:lnTo>
                  <a:cubicBezTo>
                    <a:pt x="1886966" y="0"/>
                    <a:pt x="1892681" y="5715"/>
                    <a:pt x="1892681" y="12700"/>
                  </a:cubicBezTo>
                  <a:cubicBezTo>
                    <a:pt x="1892681" y="19685"/>
                    <a:pt x="1886966" y="25400"/>
                    <a:pt x="1879981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1CADE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49678" y="982247"/>
            <a:ext cx="2817019" cy="704278"/>
            <a:chOff x="0" y="0"/>
            <a:chExt cx="3756025" cy="939038"/>
          </a:xfrm>
        </p:grpSpPr>
        <p:sp>
          <p:nvSpPr>
            <p:cNvPr name="Freeform 18" id="18" descr="A blue and red logo  AI-generated content may be incorrect."/>
            <p:cNvSpPr/>
            <p:nvPr/>
          </p:nvSpPr>
          <p:spPr>
            <a:xfrm flipH="false" flipV="false" rot="0">
              <a:off x="0" y="0"/>
              <a:ext cx="3756025" cy="939038"/>
            </a:xfrm>
            <a:custGeom>
              <a:avLst/>
              <a:gdLst/>
              <a:ahLst/>
              <a:cxnLst/>
              <a:rect r="r" b="b" t="t" l="l"/>
              <a:pathLst>
                <a:path h="939038" w="3756025">
                  <a:moveTo>
                    <a:pt x="0" y="0"/>
                  </a:moveTo>
                  <a:lnTo>
                    <a:pt x="3756025" y="0"/>
                  </a:lnTo>
                  <a:lnTo>
                    <a:pt x="3756025" y="939038"/>
                  </a:lnTo>
                  <a:lnTo>
                    <a:pt x="0" y="939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49678" y="884901"/>
            <a:ext cx="2816990" cy="8419852"/>
            <a:chOff x="0" y="0"/>
            <a:chExt cx="3755987" cy="11226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756025" cy="11226419"/>
            </a:xfrm>
            <a:custGeom>
              <a:avLst/>
              <a:gdLst/>
              <a:ahLst/>
              <a:cxnLst/>
              <a:rect r="r" b="b" t="t" l="l"/>
              <a:pathLst>
                <a:path h="11226419" w="3756025">
                  <a:moveTo>
                    <a:pt x="0" y="0"/>
                  </a:moveTo>
                  <a:lnTo>
                    <a:pt x="3756025" y="0"/>
                  </a:lnTo>
                  <a:lnTo>
                    <a:pt x="3756025" y="11226419"/>
                  </a:lnTo>
                  <a:lnTo>
                    <a:pt x="0" y="112264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3757" t="0" r="-333755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49678" y="934907"/>
            <a:ext cx="2816981" cy="8369846"/>
            <a:chOff x="0" y="0"/>
            <a:chExt cx="3755974" cy="1115979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755975" cy="11159797"/>
            </a:xfrm>
            <a:custGeom>
              <a:avLst/>
              <a:gdLst/>
              <a:ahLst/>
              <a:cxnLst/>
              <a:rect r="r" b="b" t="t" l="l"/>
              <a:pathLst>
                <a:path h="11159797" w="3755975">
                  <a:moveTo>
                    <a:pt x="0" y="0"/>
                  </a:moveTo>
                  <a:lnTo>
                    <a:pt x="3755975" y="0"/>
                  </a:lnTo>
                  <a:lnTo>
                    <a:pt x="3755975" y="11159797"/>
                  </a:lnTo>
                  <a:lnTo>
                    <a:pt x="0" y="11159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1217" t="0" r="-331217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66675"/>
              <a:ext cx="3755974" cy="11093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3000" spc="154">
                  <a:solidFill>
                    <a:srgbClr val="FFFFFF"/>
                  </a:solidFill>
                  <a:latin typeface="Big Shoulders Display"/>
                  <a:ea typeface="Big Shoulders Display"/>
                  <a:cs typeface="Big Shoulders Display"/>
                  <a:sym typeface="Big Shoulders Display"/>
                </a:rPr>
                <a:t>JAVA MINI PROJECT PRESENTATION 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5060013" y="3083852"/>
            <a:ext cx="9968218" cy="6397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85259" indent="-461753" lvl="2">
              <a:lnSpc>
                <a:spcPts val="8483"/>
              </a:lnSpc>
              <a:buFont typeface="Arial"/>
              <a:buChar char="⚬"/>
            </a:pPr>
            <a:r>
              <a:rPr lang="en-US" sz="6059" spc="132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Menu Display Module</a:t>
            </a:r>
          </a:p>
          <a:p>
            <a:pPr algn="l" marL="1385259" indent="-461753" lvl="2">
              <a:lnSpc>
                <a:spcPts val="8483"/>
              </a:lnSpc>
              <a:buFont typeface="Arial"/>
              <a:buChar char="⚬"/>
            </a:pPr>
            <a:r>
              <a:rPr lang="en-US" sz="6059" spc="132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Order Selection Module</a:t>
            </a:r>
          </a:p>
          <a:p>
            <a:pPr algn="l" marL="1385259" indent="-461753" lvl="2">
              <a:lnSpc>
                <a:spcPts val="8483"/>
              </a:lnSpc>
              <a:buFont typeface="Arial"/>
              <a:buChar char="⚬"/>
            </a:pPr>
            <a:r>
              <a:rPr lang="en-US" sz="6059" spc="132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Billing Module</a:t>
            </a:r>
          </a:p>
          <a:p>
            <a:pPr algn="l" marL="1385259" indent="-461753" lvl="2">
              <a:lnSpc>
                <a:spcPts val="8483"/>
              </a:lnSpc>
              <a:buFont typeface="Arial"/>
              <a:buChar char="⚬"/>
            </a:pPr>
            <a:r>
              <a:rPr lang="en-US" sz="6059" spc="132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User Interaction (Console-based UI)</a:t>
            </a:r>
          </a:p>
          <a:p>
            <a:pPr algn="l" marL="1385259" indent="-461753" lvl="2">
              <a:lnSpc>
                <a:spcPts val="8483"/>
              </a:lnSpc>
              <a:buFont typeface="Arial"/>
              <a:buChar char="⚬"/>
            </a:pPr>
            <a:r>
              <a:rPr lang="en-US" sz="6059" spc="132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Data stored using arrays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4FBFE">
                <a:alpha val="100000"/>
              </a:srgbClr>
            </a:gs>
            <a:gs pos="74000">
              <a:srgbClr val="99DAF3">
                <a:alpha val="100000"/>
              </a:srgbClr>
            </a:gs>
            <a:gs pos="83000">
              <a:srgbClr val="99DAF3">
                <a:alpha val="100000"/>
              </a:srgbClr>
            </a:gs>
            <a:gs pos="100000">
              <a:srgbClr val="BBE6F7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329860">
            <a:off x="433245" y="1906238"/>
            <a:ext cx="1419520" cy="19050"/>
            <a:chOff x="0" y="0"/>
            <a:chExt cx="1892694" cy="25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92681" cy="25400"/>
            </a:xfrm>
            <a:custGeom>
              <a:avLst/>
              <a:gdLst/>
              <a:ahLst/>
              <a:cxnLst/>
              <a:rect r="r" b="b" t="t" l="l"/>
              <a:pathLst>
                <a:path h="25400" w="1892681">
                  <a:moveTo>
                    <a:pt x="12700" y="0"/>
                  </a:moveTo>
                  <a:lnTo>
                    <a:pt x="1879981" y="0"/>
                  </a:lnTo>
                  <a:cubicBezTo>
                    <a:pt x="1886966" y="0"/>
                    <a:pt x="1892681" y="5715"/>
                    <a:pt x="1892681" y="12700"/>
                  </a:cubicBezTo>
                  <a:cubicBezTo>
                    <a:pt x="1892681" y="19685"/>
                    <a:pt x="1886966" y="25400"/>
                    <a:pt x="1879981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1CADE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159120" y="726948"/>
            <a:ext cx="13422249" cy="8821388"/>
            <a:chOff x="0" y="0"/>
            <a:chExt cx="17896332" cy="117618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896332" cy="11761851"/>
            </a:xfrm>
            <a:custGeom>
              <a:avLst/>
              <a:gdLst/>
              <a:ahLst/>
              <a:cxnLst/>
              <a:rect r="r" b="b" t="t" l="l"/>
              <a:pathLst>
                <a:path h="11761851" w="17896332">
                  <a:moveTo>
                    <a:pt x="0" y="0"/>
                  </a:moveTo>
                  <a:lnTo>
                    <a:pt x="17896332" y="0"/>
                  </a:lnTo>
                  <a:lnTo>
                    <a:pt x="17896332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40404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203993" y="1182624"/>
            <a:ext cx="11884895" cy="2249424"/>
            <a:chOff x="0" y="0"/>
            <a:chExt cx="15846527" cy="29992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846552" cy="2999232"/>
            </a:xfrm>
            <a:custGeom>
              <a:avLst/>
              <a:gdLst/>
              <a:ahLst/>
              <a:cxnLst/>
              <a:rect r="r" b="b" t="t" l="l"/>
              <a:pathLst>
                <a:path h="2999232" w="15846552">
                  <a:moveTo>
                    <a:pt x="0" y="0"/>
                  </a:moveTo>
                  <a:lnTo>
                    <a:pt x="15846552" y="0"/>
                  </a:lnTo>
                  <a:lnTo>
                    <a:pt x="15846552" y="2999232"/>
                  </a:lnTo>
                  <a:lnTo>
                    <a:pt x="0" y="2999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878" r="0" b="-5287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203993" y="1296924"/>
            <a:ext cx="11884895" cy="2135124"/>
            <a:chOff x="0" y="0"/>
            <a:chExt cx="15846527" cy="28468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846527" cy="2846832"/>
            </a:xfrm>
            <a:custGeom>
              <a:avLst/>
              <a:gdLst/>
              <a:ahLst/>
              <a:cxnLst/>
              <a:rect r="r" b="b" t="t" l="l"/>
              <a:pathLst>
                <a:path h="2846832" w="15846527">
                  <a:moveTo>
                    <a:pt x="0" y="0"/>
                  </a:moveTo>
                  <a:lnTo>
                    <a:pt x="15846527" y="0"/>
                  </a:lnTo>
                  <a:lnTo>
                    <a:pt x="15846527" y="2846832"/>
                  </a:lnTo>
                  <a:lnTo>
                    <a:pt x="0" y="2846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460" r="0" b="-5846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52400"/>
              <a:ext cx="15846527" cy="2694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7500" spc="164">
                  <a:solidFill>
                    <a:srgbClr val="FFFFFF"/>
                  </a:solidFill>
                  <a:latin typeface="Big Shoulders Display"/>
                  <a:ea typeface="Big Shoulders Display"/>
                  <a:cs typeface="Big Shoulders Display"/>
                  <a:sym typeface="Big Shoulders Display"/>
                </a:rPr>
                <a:t>Module Description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12727" y="726948"/>
            <a:ext cx="3193447" cy="8821388"/>
            <a:chOff x="0" y="0"/>
            <a:chExt cx="4257929" cy="117618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57929" cy="11761851"/>
            </a:xfrm>
            <a:custGeom>
              <a:avLst/>
              <a:gdLst/>
              <a:ahLst/>
              <a:cxnLst/>
              <a:rect r="r" b="b" t="t" l="l"/>
              <a:pathLst>
                <a:path h="11761851" w="4257929">
                  <a:moveTo>
                    <a:pt x="0" y="0"/>
                  </a:moveTo>
                  <a:lnTo>
                    <a:pt x="4257929" y="0"/>
                  </a:lnTo>
                  <a:lnTo>
                    <a:pt x="4257929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1CADE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-5329860">
            <a:off x="4101036" y="2211038"/>
            <a:ext cx="1419520" cy="19050"/>
            <a:chOff x="0" y="0"/>
            <a:chExt cx="1892694" cy="25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92681" cy="25400"/>
            </a:xfrm>
            <a:custGeom>
              <a:avLst/>
              <a:gdLst/>
              <a:ahLst/>
              <a:cxnLst/>
              <a:rect r="r" b="b" t="t" l="l"/>
              <a:pathLst>
                <a:path h="25400" w="1892681">
                  <a:moveTo>
                    <a:pt x="12700" y="0"/>
                  </a:moveTo>
                  <a:lnTo>
                    <a:pt x="1879981" y="0"/>
                  </a:lnTo>
                  <a:cubicBezTo>
                    <a:pt x="1886966" y="0"/>
                    <a:pt x="1892681" y="5715"/>
                    <a:pt x="1892681" y="12700"/>
                  </a:cubicBezTo>
                  <a:cubicBezTo>
                    <a:pt x="1892681" y="19685"/>
                    <a:pt x="1886966" y="25400"/>
                    <a:pt x="1879981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1CADE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49678" y="982247"/>
            <a:ext cx="2817019" cy="704278"/>
            <a:chOff x="0" y="0"/>
            <a:chExt cx="3756025" cy="939038"/>
          </a:xfrm>
        </p:grpSpPr>
        <p:sp>
          <p:nvSpPr>
            <p:cNvPr name="Freeform 18" id="18" descr="A blue and red logo  AI-generated content may be incorrect."/>
            <p:cNvSpPr/>
            <p:nvPr/>
          </p:nvSpPr>
          <p:spPr>
            <a:xfrm flipH="false" flipV="false" rot="0">
              <a:off x="0" y="0"/>
              <a:ext cx="3756025" cy="939038"/>
            </a:xfrm>
            <a:custGeom>
              <a:avLst/>
              <a:gdLst/>
              <a:ahLst/>
              <a:cxnLst/>
              <a:rect r="r" b="b" t="t" l="l"/>
              <a:pathLst>
                <a:path h="939038" w="3756025">
                  <a:moveTo>
                    <a:pt x="0" y="0"/>
                  </a:moveTo>
                  <a:lnTo>
                    <a:pt x="3756025" y="0"/>
                  </a:lnTo>
                  <a:lnTo>
                    <a:pt x="3756025" y="939038"/>
                  </a:lnTo>
                  <a:lnTo>
                    <a:pt x="0" y="939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49678" y="884901"/>
            <a:ext cx="2816990" cy="8419852"/>
            <a:chOff x="0" y="0"/>
            <a:chExt cx="3755987" cy="11226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756025" cy="11226419"/>
            </a:xfrm>
            <a:custGeom>
              <a:avLst/>
              <a:gdLst/>
              <a:ahLst/>
              <a:cxnLst/>
              <a:rect r="r" b="b" t="t" l="l"/>
              <a:pathLst>
                <a:path h="11226419" w="3756025">
                  <a:moveTo>
                    <a:pt x="0" y="0"/>
                  </a:moveTo>
                  <a:lnTo>
                    <a:pt x="3756025" y="0"/>
                  </a:lnTo>
                  <a:lnTo>
                    <a:pt x="3756025" y="11226419"/>
                  </a:lnTo>
                  <a:lnTo>
                    <a:pt x="0" y="112264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3757" t="0" r="-333755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49678" y="934907"/>
            <a:ext cx="2816981" cy="8369846"/>
            <a:chOff x="0" y="0"/>
            <a:chExt cx="3755974" cy="1115979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755975" cy="11159797"/>
            </a:xfrm>
            <a:custGeom>
              <a:avLst/>
              <a:gdLst/>
              <a:ahLst/>
              <a:cxnLst/>
              <a:rect r="r" b="b" t="t" l="l"/>
              <a:pathLst>
                <a:path h="11159797" w="3755975">
                  <a:moveTo>
                    <a:pt x="0" y="0"/>
                  </a:moveTo>
                  <a:lnTo>
                    <a:pt x="3755975" y="0"/>
                  </a:lnTo>
                  <a:lnTo>
                    <a:pt x="3755975" y="11159797"/>
                  </a:lnTo>
                  <a:lnTo>
                    <a:pt x="0" y="11159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1217" t="0" r="-331217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66675"/>
              <a:ext cx="3755974" cy="11093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3000" spc="154">
                  <a:solidFill>
                    <a:srgbClr val="FFFFFF"/>
                  </a:solidFill>
                  <a:latin typeface="Big Shoulders Display"/>
                  <a:ea typeface="Big Shoulders Display"/>
                  <a:cs typeface="Big Shoulders Display"/>
                  <a:sym typeface="Big Shoulders Display"/>
                </a:rPr>
                <a:t>JAVA MINI PROJECT PRESENTATION 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4933331" y="3431105"/>
            <a:ext cx="11914584" cy="384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20364" indent="-406788" lvl="2">
              <a:lnSpc>
                <a:spcPts val="7473"/>
              </a:lnSpc>
              <a:buFont typeface="Arial"/>
              <a:buChar char="⚬"/>
            </a:pPr>
            <a:r>
              <a:rPr lang="en-US" sz="5338" spc="116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Menu Module: Displays food items and prices</a:t>
            </a:r>
          </a:p>
          <a:p>
            <a:pPr algn="l" marL="1220364" indent="-406788" lvl="2">
              <a:lnSpc>
                <a:spcPts val="7473"/>
              </a:lnSpc>
              <a:buFont typeface="Arial"/>
              <a:buChar char="⚬"/>
            </a:pPr>
            <a:r>
              <a:rPr lang="en-US" sz="5338" spc="116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Order Module: Takes user input for item selection</a:t>
            </a:r>
          </a:p>
          <a:p>
            <a:pPr algn="l" marL="1220364" indent="-406788" lvl="2">
              <a:lnSpc>
                <a:spcPts val="7473"/>
              </a:lnSpc>
              <a:buFont typeface="Arial"/>
              <a:buChar char="⚬"/>
            </a:pPr>
            <a:r>
              <a:rPr lang="en-US" sz="5338" spc="116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Billing Module: Calculates total amount</a:t>
            </a:r>
          </a:p>
          <a:p>
            <a:pPr algn="l" marL="1220364" indent="-406788" lvl="2">
              <a:lnSpc>
                <a:spcPts val="7473"/>
              </a:lnSpc>
              <a:buFont typeface="Arial"/>
              <a:buChar char="⚬"/>
            </a:pPr>
            <a:r>
              <a:rPr lang="en-US" sz="5338" spc="116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Exit Module: Ends the program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4FBFE">
                <a:alpha val="100000"/>
              </a:srgbClr>
            </a:gs>
            <a:gs pos="74000">
              <a:srgbClr val="99DAF3">
                <a:alpha val="100000"/>
              </a:srgbClr>
            </a:gs>
            <a:gs pos="83000">
              <a:srgbClr val="99DAF3">
                <a:alpha val="100000"/>
              </a:srgbClr>
            </a:gs>
            <a:gs pos="100000">
              <a:srgbClr val="BBE6F7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329860">
            <a:off x="433245" y="1906238"/>
            <a:ext cx="1419520" cy="19050"/>
            <a:chOff x="0" y="0"/>
            <a:chExt cx="1892694" cy="25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92681" cy="25400"/>
            </a:xfrm>
            <a:custGeom>
              <a:avLst/>
              <a:gdLst/>
              <a:ahLst/>
              <a:cxnLst/>
              <a:rect r="r" b="b" t="t" l="l"/>
              <a:pathLst>
                <a:path h="25400" w="1892681">
                  <a:moveTo>
                    <a:pt x="12700" y="0"/>
                  </a:moveTo>
                  <a:lnTo>
                    <a:pt x="1879981" y="0"/>
                  </a:lnTo>
                  <a:cubicBezTo>
                    <a:pt x="1886966" y="0"/>
                    <a:pt x="1892681" y="5715"/>
                    <a:pt x="1892681" y="12700"/>
                  </a:cubicBezTo>
                  <a:cubicBezTo>
                    <a:pt x="1892681" y="19685"/>
                    <a:pt x="1886966" y="25400"/>
                    <a:pt x="1879981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1CADE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159120" y="726948"/>
            <a:ext cx="13422249" cy="8821388"/>
            <a:chOff x="0" y="0"/>
            <a:chExt cx="17896332" cy="117618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896332" cy="11761851"/>
            </a:xfrm>
            <a:custGeom>
              <a:avLst/>
              <a:gdLst/>
              <a:ahLst/>
              <a:cxnLst/>
              <a:rect r="r" b="b" t="t" l="l"/>
              <a:pathLst>
                <a:path h="11761851" w="17896332">
                  <a:moveTo>
                    <a:pt x="0" y="0"/>
                  </a:moveTo>
                  <a:lnTo>
                    <a:pt x="17896332" y="0"/>
                  </a:lnTo>
                  <a:lnTo>
                    <a:pt x="17896332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40404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203993" y="1182624"/>
            <a:ext cx="11884895" cy="2249424"/>
            <a:chOff x="0" y="0"/>
            <a:chExt cx="15846527" cy="29992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846552" cy="2999232"/>
            </a:xfrm>
            <a:custGeom>
              <a:avLst/>
              <a:gdLst/>
              <a:ahLst/>
              <a:cxnLst/>
              <a:rect r="r" b="b" t="t" l="l"/>
              <a:pathLst>
                <a:path h="2999232" w="15846552">
                  <a:moveTo>
                    <a:pt x="0" y="0"/>
                  </a:moveTo>
                  <a:lnTo>
                    <a:pt x="15846552" y="0"/>
                  </a:lnTo>
                  <a:lnTo>
                    <a:pt x="15846552" y="2999232"/>
                  </a:lnTo>
                  <a:lnTo>
                    <a:pt x="0" y="2999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878" r="0" b="-5287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203993" y="1296924"/>
            <a:ext cx="11884895" cy="2135124"/>
            <a:chOff x="0" y="0"/>
            <a:chExt cx="15846527" cy="28468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846527" cy="2846832"/>
            </a:xfrm>
            <a:custGeom>
              <a:avLst/>
              <a:gdLst/>
              <a:ahLst/>
              <a:cxnLst/>
              <a:rect r="r" b="b" t="t" l="l"/>
              <a:pathLst>
                <a:path h="2846832" w="15846527">
                  <a:moveTo>
                    <a:pt x="0" y="0"/>
                  </a:moveTo>
                  <a:lnTo>
                    <a:pt x="15846527" y="0"/>
                  </a:lnTo>
                  <a:lnTo>
                    <a:pt x="15846527" y="2846832"/>
                  </a:lnTo>
                  <a:lnTo>
                    <a:pt x="0" y="2846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460" r="0" b="-5846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52400"/>
              <a:ext cx="15846527" cy="2694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7500" spc="164">
                  <a:solidFill>
                    <a:srgbClr val="FFFFFF"/>
                  </a:solidFill>
                  <a:latin typeface="Big Shoulders Display"/>
                  <a:ea typeface="Big Shoulders Display"/>
                  <a:cs typeface="Big Shoulders Display"/>
                  <a:sym typeface="Big Shoulders Display"/>
                </a:rPr>
                <a:t>Algorithm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12727" y="726948"/>
            <a:ext cx="3193447" cy="8821388"/>
            <a:chOff x="0" y="0"/>
            <a:chExt cx="4257929" cy="117618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57929" cy="11761851"/>
            </a:xfrm>
            <a:custGeom>
              <a:avLst/>
              <a:gdLst/>
              <a:ahLst/>
              <a:cxnLst/>
              <a:rect r="r" b="b" t="t" l="l"/>
              <a:pathLst>
                <a:path h="11761851" w="4257929">
                  <a:moveTo>
                    <a:pt x="0" y="0"/>
                  </a:moveTo>
                  <a:lnTo>
                    <a:pt x="4257929" y="0"/>
                  </a:lnTo>
                  <a:lnTo>
                    <a:pt x="4257929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1CADE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-5329860">
            <a:off x="4101036" y="2211038"/>
            <a:ext cx="1419520" cy="19050"/>
            <a:chOff x="0" y="0"/>
            <a:chExt cx="1892694" cy="25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92681" cy="25400"/>
            </a:xfrm>
            <a:custGeom>
              <a:avLst/>
              <a:gdLst/>
              <a:ahLst/>
              <a:cxnLst/>
              <a:rect r="r" b="b" t="t" l="l"/>
              <a:pathLst>
                <a:path h="25400" w="1892681">
                  <a:moveTo>
                    <a:pt x="12700" y="0"/>
                  </a:moveTo>
                  <a:lnTo>
                    <a:pt x="1879981" y="0"/>
                  </a:lnTo>
                  <a:cubicBezTo>
                    <a:pt x="1886966" y="0"/>
                    <a:pt x="1892681" y="5715"/>
                    <a:pt x="1892681" y="12700"/>
                  </a:cubicBezTo>
                  <a:cubicBezTo>
                    <a:pt x="1892681" y="19685"/>
                    <a:pt x="1886966" y="25400"/>
                    <a:pt x="1879981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1CADE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49678" y="982247"/>
            <a:ext cx="2817019" cy="704278"/>
            <a:chOff x="0" y="0"/>
            <a:chExt cx="3756025" cy="939038"/>
          </a:xfrm>
        </p:grpSpPr>
        <p:sp>
          <p:nvSpPr>
            <p:cNvPr name="Freeform 18" id="18" descr="A blue and red logo  AI-generated content may be incorrect."/>
            <p:cNvSpPr/>
            <p:nvPr/>
          </p:nvSpPr>
          <p:spPr>
            <a:xfrm flipH="false" flipV="false" rot="0">
              <a:off x="0" y="0"/>
              <a:ext cx="3756025" cy="939038"/>
            </a:xfrm>
            <a:custGeom>
              <a:avLst/>
              <a:gdLst/>
              <a:ahLst/>
              <a:cxnLst/>
              <a:rect r="r" b="b" t="t" l="l"/>
              <a:pathLst>
                <a:path h="939038" w="3756025">
                  <a:moveTo>
                    <a:pt x="0" y="0"/>
                  </a:moveTo>
                  <a:lnTo>
                    <a:pt x="3756025" y="0"/>
                  </a:lnTo>
                  <a:lnTo>
                    <a:pt x="3756025" y="939038"/>
                  </a:lnTo>
                  <a:lnTo>
                    <a:pt x="0" y="939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49678" y="884901"/>
            <a:ext cx="2816990" cy="8419852"/>
            <a:chOff x="0" y="0"/>
            <a:chExt cx="3755987" cy="11226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756025" cy="11226419"/>
            </a:xfrm>
            <a:custGeom>
              <a:avLst/>
              <a:gdLst/>
              <a:ahLst/>
              <a:cxnLst/>
              <a:rect r="r" b="b" t="t" l="l"/>
              <a:pathLst>
                <a:path h="11226419" w="3756025">
                  <a:moveTo>
                    <a:pt x="0" y="0"/>
                  </a:moveTo>
                  <a:lnTo>
                    <a:pt x="3756025" y="0"/>
                  </a:lnTo>
                  <a:lnTo>
                    <a:pt x="3756025" y="11226419"/>
                  </a:lnTo>
                  <a:lnTo>
                    <a:pt x="0" y="112264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3757" t="0" r="-333755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49678" y="934907"/>
            <a:ext cx="2816981" cy="8369846"/>
            <a:chOff x="0" y="0"/>
            <a:chExt cx="3755974" cy="1115979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755975" cy="11159797"/>
            </a:xfrm>
            <a:custGeom>
              <a:avLst/>
              <a:gdLst/>
              <a:ahLst/>
              <a:cxnLst/>
              <a:rect r="r" b="b" t="t" l="l"/>
              <a:pathLst>
                <a:path h="11159797" w="3755975">
                  <a:moveTo>
                    <a:pt x="0" y="0"/>
                  </a:moveTo>
                  <a:lnTo>
                    <a:pt x="3755975" y="0"/>
                  </a:lnTo>
                  <a:lnTo>
                    <a:pt x="3755975" y="11159797"/>
                  </a:lnTo>
                  <a:lnTo>
                    <a:pt x="0" y="11159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1217" t="0" r="-331217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66675"/>
              <a:ext cx="3755974" cy="11093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3000" spc="154">
                  <a:solidFill>
                    <a:srgbClr val="FFFFFF"/>
                  </a:solidFill>
                  <a:latin typeface="Big Shoulders Display"/>
                  <a:ea typeface="Big Shoulders Display"/>
                  <a:cs typeface="Big Shoulders Display"/>
                  <a:sym typeface="Big Shoulders Display"/>
                </a:rPr>
                <a:t>JAVA MINI PROJECT PRESENTATION 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7133863" y="3034332"/>
            <a:ext cx="3736381" cy="556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17940" indent="-339313" lvl="2">
              <a:lnSpc>
                <a:spcPts val="6234"/>
              </a:lnSpc>
              <a:buFont typeface="Arial"/>
              <a:buChar char="⚬"/>
            </a:pPr>
            <a:r>
              <a:rPr lang="en-US" sz="4452" spc="97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Start</a:t>
            </a:r>
          </a:p>
          <a:p>
            <a:pPr algn="l" marL="1017940" indent="-339313" lvl="2">
              <a:lnSpc>
                <a:spcPts val="6234"/>
              </a:lnSpc>
              <a:buFont typeface="Arial"/>
              <a:buChar char="⚬"/>
            </a:pPr>
            <a:r>
              <a:rPr lang="en-US" sz="4452" spc="97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Display menu</a:t>
            </a:r>
          </a:p>
          <a:p>
            <a:pPr algn="l" marL="1017940" indent="-339313" lvl="2">
              <a:lnSpc>
                <a:spcPts val="6234"/>
              </a:lnSpc>
              <a:buFont typeface="Arial"/>
              <a:buChar char="⚬"/>
            </a:pPr>
            <a:r>
              <a:rPr lang="en-US" sz="4452" spc="97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Take user input</a:t>
            </a:r>
          </a:p>
          <a:p>
            <a:pPr algn="l" marL="1017940" indent="-339313" lvl="2">
              <a:lnSpc>
                <a:spcPts val="6234"/>
              </a:lnSpc>
              <a:buFont typeface="Arial"/>
              <a:buChar char="⚬"/>
            </a:pPr>
            <a:r>
              <a:rPr lang="en-US" sz="4452" spc="97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Store quantity</a:t>
            </a:r>
          </a:p>
          <a:p>
            <a:pPr algn="l" marL="1017940" indent="-339313" lvl="2">
              <a:lnSpc>
                <a:spcPts val="6234"/>
              </a:lnSpc>
              <a:buFont typeface="Arial"/>
              <a:buChar char="⚬"/>
            </a:pPr>
            <a:r>
              <a:rPr lang="en-US" sz="4452" spc="97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Calculate total</a:t>
            </a:r>
          </a:p>
          <a:p>
            <a:pPr algn="l" marL="1017940" indent="-339313" lvl="2">
              <a:lnSpc>
                <a:spcPts val="6234"/>
              </a:lnSpc>
              <a:buFont typeface="Arial"/>
              <a:buChar char="⚬"/>
            </a:pPr>
            <a:r>
              <a:rPr lang="en-US" sz="4452" spc="97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Display bill</a:t>
            </a:r>
          </a:p>
          <a:p>
            <a:pPr algn="l" marL="1017940" indent="-339313" lvl="2">
              <a:lnSpc>
                <a:spcPts val="6234"/>
              </a:lnSpc>
              <a:buFont typeface="Arial"/>
              <a:buChar char="⚬"/>
            </a:pPr>
            <a:r>
              <a:rPr lang="en-US" sz="4452" spc="97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End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4FBFE">
                <a:alpha val="100000"/>
              </a:srgbClr>
            </a:gs>
            <a:gs pos="74000">
              <a:srgbClr val="99DAF3">
                <a:alpha val="100000"/>
              </a:srgbClr>
            </a:gs>
            <a:gs pos="83000">
              <a:srgbClr val="99DAF3">
                <a:alpha val="100000"/>
              </a:srgbClr>
            </a:gs>
            <a:gs pos="100000">
              <a:srgbClr val="BBE6F7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329860">
            <a:off x="433245" y="1906238"/>
            <a:ext cx="1419520" cy="19050"/>
            <a:chOff x="0" y="0"/>
            <a:chExt cx="1892694" cy="25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92681" cy="25400"/>
            </a:xfrm>
            <a:custGeom>
              <a:avLst/>
              <a:gdLst/>
              <a:ahLst/>
              <a:cxnLst/>
              <a:rect r="r" b="b" t="t" l="l"/>
              <a:pathLst>
                <a:path h="25400" w="1892681">
                  <a:moveTo>
                    <a:pt x="12700" y="0"/>
                  </a:moveTo>
                  <a:lnTo>
                    <a:pt x="1879981" y="0"/>
                  </a:lnTo>
                  <a:cubicBezTo>
                    <a:pt x="1886966" y="0"/>
                    <a:pt x="1892681" y="5715"/>
                    <a:pt x="1892681" y="12700"/>
                  </a:cubicBezTo>
                  <a:cubicBezTo>
                    <a:pt x="1892681" y="19685"/>
                    <a:pt x="1886966" y="25400"/>
                    <a:pt x="1879981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1CADE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159120" y="726948"/>
            <a:ext cx="13422249" cy="8821388"/>
            <a:chOff x="0" y="0"/>
            <a:chExt cx="17896332" cy="117618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896332" cy="11761851"/>
            </a:xfrm>
            <a:custGeom>
              <a:avLst/>
              <a:gdLst/>
              <a:ahLst/>
              <a:cxnLst/>
              <a:rect r="r" b="b" t="t" l="l"/>
              <a:pathLst>
                <a:path h="11761851" w="17896332">
                  <a:moveTo>
                    <a:pt x="0" y="0"/>
                  </a:moveTo>
                  <a:lnTo>
                    <a:pt x="17896332" y="0"/>
                  </a:lnTo>
                  <a:lnTo>
                    <a:pt x="17896332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40404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203993" y="1182624"/>
            <a:ext cx="11884895" cy="2249424"/>
            <a:chOff x="0" y="0"/>
            <a:chExt cx="15846527" cy="29992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846552" cy="2999232"/>
            </a:xfrm>
            <a:custGeom>
              <a:avLst/>
              <a:gdLst/>
              <a:ahLst/>
              <a:cxnLst/>
              <a:rect r="r" b="b" t="t" l="l"/>
              <a:pathLst>
                <a:path h="2999232" w="15846552">
                  <a:moveTo>
                    <a:pt x="0" y="0"/>
                  </a:moveTo>
                  <a:lnTo>
                    <a:pt x="15846552" y="0"/>
                  </a:lnTo>
                  <a:lnTo>
                    <a:pt x="15846552" y="2999232"/>
                  </a:lnTo>
                  <a:lnTo>
                    <a:pt x="0" y="2999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878" r="0" b="-5287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203993" y="1296924"/>
            <a:ext cx="11884895" cy="2135124"/>
            <a:chOff x="0" y="0"/>
            <a:chExt cx="15846527" cy="28468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846527" cy="2846832"/>
            </a:xfrm>
            <a:custGeom>
              <a:avLst/>
              <a:gdLst/>
              <a:ahLst/>
              <a:cxnLst/>
              <a:rect r="r" b="b" t="t" l="l"/>
              <a:pathLst>
                <a:path h="2846832" w="15846527">
                  <a:moveTo>
                    <a:pt x="0" y="0"/>
                  </a:moveTo>
                  <a:lnTo>
                    <a:pt x="15846527" y="0"/>
                  </a:lnTo>
                  <a:lnTo>
                    <a:pt x="15846527" y="2846832"/>
                  </a:lnTo>
                  <a:lnTo>
                    <a:pt x="0" y="2846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460" r="0" b="-5846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52400"/>
              <a:ext cx="15846527" cy="2694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7500" spc="164">
                  <a:solidFill>
                    <a:srgbClr val="FFFFFF"/>
                  </a:solidFill>
                  <a:latin typeface="Big Shoulders Display"/>
                  <a:ea typeface="Big Shoulders Display"/>
                  <a:cs typeface="Big Shoulders Display"/>
                  <a:sym typeface="Big Shoulders Display"/>
                </a:rPr>
                <a:t>Implementation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12727" y="726948"/>
            <a:ext cx="3193447" cy="8821388"/>
            <a:chOff x="0" y="0"/>
            <a:chExt cx="4257929" cy="117618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57929" cy="11761851"/>
            </a:xfrm>
            <a:custGeom>
              <a:avLst/>
              <a:gdLst/>
              <a:ahLst/>
              <a:cxnLst/>
              <a:rect r="r" b="b" t="t" l="l"/>
              <a:pathLst>
                <a:path h="11761851" w="4257929">
                  <a:moveTo>
                    <a:pt x="0" y="0"/>
                  </a:moveTo>
                  <a:lnTo>
                    <a:pt x="4257929" y="0"/>
                  </a:lnTo>
                  <a:lnTo>
                    <a:pt x="4257929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1CADE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-5329860">
            <a:off x="4101036" y="2211038"/>
            <a:ext cx="1419520" cy="19050"/>
            <a:chOff x="0" y="0"/>
            <a:chExt cx="1892694" cy="25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92681" cy="25400"/>
            </a:xfrm>
            <a:custGeom>
              <a:avLst/>
              <a:gdLst/>
              <a:ahLst/>
              <a:cxnLst/>
              <a:rect r="r" b="b" t="t" l="l"/>
              <a:pathLst>
                <a:path h="25400" w="1892681">
                  <a:moveTo>
                    <a:pt x="12700" y="0"/>
                  </a:moveTo>
                  <a:lnTo>
                    <a:pt x="1879981" y="0"/>
                  </a:lnTo>
                  <a:cubicBezTo>
                    <a:pt x="1886966" y="0"/>
                    <a:pt x="1892681" y="5715"/>
                    <a:pt x="1892681" y="12700"/>
                  </a:cubicBezTo>
                  <a:cubicBezTo>
                    <a:pt x="1892681" y="19685"/>
                    <a:pt x="1886966" y="25400"/>
                    <a:pt x="1879981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1CADE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49678" y="982247"/>
            <a:ext cx="2817019" cy="704278"/>
            <a:chOff x="0" y="0"/>
            <a:chExt cx="3756025" cy="939038"/>
          </a:xfrm>
        </p:grpSpPr>
        <p:sp>
          <p:nvSpPr>
            <p:cNvPr name="Freeform 18" id="18" descr="A blue and red logo  AI-generated content may be incorrect."/>
            <p:cNvSpPr/>
            <p:nvPr/>
          </p:nvSpPr>
          <p:spPr>
            <a:xfrm flipH="false" flipV="false" rot="0">
              <a:off x="0" y="0"/>
              <a:ext cx="3756025" cy="939038"/>
            </a:xfrm>
            <a:custGeom>
              <a:avLst/>
              <a:gdLst/>
              <a:ahLst/>
              <a:cxnLst/>
              <a:rect r="r" b="b" t="t" l="l"/>
              <a:pathLst>
                <a:path h="939038" w="3756025">
                  <a:moveTo>
                    <a:pt x="0" y="0"/>
                  </a:moveTo>
                  <a:lnTo>
                    <a:pt x="3756025" y="0"/>
                  </a:lnTo>
                  <a:lnTo>
                    <a:pt x="3756025" y="939038"/>
                  </a:lnTo>
                  <a:lnTo>
                    <a:pt x="0" y="939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49678" y="884901"/>
            <a:ext cx="2816990" cy="8419852"/>
            <a:chOff x="0" y="0"/>
            <a:chExt cx="3755987" cy="11226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756025" cy="11226419"/>
            </a:xfrm>
            <a:custGeom>
              <a:avLst/>
              <a:gdLst/>
              <a:ahLst/>
              <a:cxnLst/>
              <a:rect r="r" b="b" t="t" l="l"/>
              <a:pathLst>
                <a:path h="11226419" w="3756025">
                  <a:moveTo>
                    <a:pt x="0" y="0"/>
                  </a:moveTo>
                  <a:lnTo>
                    <a:pt x="3756025" y="0"/>
                  </a:lnTo>
                  <a:lnTo>
                    <a:pt x="3756025" y="11226419"/>
                  </a:lnTo>
                  <a:lnTo>
                    <a:pt x="0" y="112264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3757" t="0" r="-333755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49678" y="934907"/>
            <a:ext cx="2816981" cy="8369846"/>
            <a:chOff x="0" y="0"/>
            <a:chExt cx="3755974" cy="1115979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755975" cy="11159797"/>
            </a:xfrm>
            <a:custGeom>
              <a:avLst/>
              <a:gdLst/>
              <a:ahLst/>
              <a:cxnLst/>
              <a:rect r="r" b="b" t="t" l="l"/>
              <a:pathLst>
                <a:path h="11159797" w="3755975">
                  <a:moveTo>
                    <a:pt x="0" y="0"/>
                  </a:moveTo>
                  <a:lnTo>
                    <a:pt x="3755975" y="0"/>
                  </a:lnTo>
                  <a:lnTo>
                    <a:pt x="3755975" y="11159797"/>
                  </a:lnTo>
                  <a:lnTo>
                    <a:pt x="0" y="11159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1217" t="0" r="-331217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66675"/>
              <a:ext cx="3755974" cy="11093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3000" spc="153">
                  <a:solidFill>
                    <a:srgbClr val="FFFFFF"/>
                  </a:solidFill>
                  <a:latin typeface="Big Shoulders Display"/>
                  <a:ea typeface="Big Shoulders Display"/>
                  <a:cs typeface="Big Shoulders Display"/>
                  <a:sym typeface="Big Shoulders Display"/>
                </a:rPr>
                <a:t>JAVA MINI PROJECT</a:t>
              </a:r>
            </a:p>
            <a:p>
              <a:pPr algn="l">
                <a:lnSpc>
                  <a:spcPts val="2879"/>
                </a:lnSpc>
              </a:pPr>
              <a:r>
                <a:rPr lang="en-US" sz="3000" spc="154">
                  <a:solidFill>
                    <a:srgbClr val="FFFFFF"/>
                  </a:solidFill>
                  <a:latin typeface="Big Shoulders Display"/>
                  <a:ea typeface="Big Shoulders Display"/>
                  <a:cs typeface="Big Shoulders Display"/>
                  <a:sym typeface="Big Shoulders Display"/>
                </a:rPr>
                <a:t>PRESENTATION 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5203993" y="3222498"/>
            <a:ext cx="10789206" cy="3808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11581" indent="-403860" lvl="2">
              <a:lnSpc>
                <a:spcPts val="7420"/>
              </a:lnSpc>
              <a:buFont typeface="Arial"/>
              <a:buChar char="⚬"/>
            </a:pPr>
            <a:r>
              <a:rPr lang="en-US" sz="5299" spc="115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Developed using Java programming language</a:t>
            </a:r>
          </a:p>
          <a:p>
            <a:pPr algn="l" marL="1211581" indent="-403860" lvl="2">
              <a:lnSpc>
                <a:spcPts val="7420"/>
              </a:lnSpc>
              <a:buFont typeface="Arial"/>
              <a:buChar char="⚬"/>
            </a:pPr>
            <a:r>
              <a:rPr lang="en-US" sz="5299" spc="115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Uses arrays for storing menu and prices</a:t>
            </a:r>
          </a:p>
          <a:p>
            <a:pPr algn="l" marL="1211581" indent="-403860" lvl="2">
              <a:lnSpc>
                <a:spcPts val="7420"/>
              </a:lnSpc>
              <a:buFont typeface="Arial"/>
              <a:buChar char="⚬"/>
            </a:pPr>
            <a:r>
              <a:rPr lang="en-US" sz="5299" spc="115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Scanner class used for input</a:t>
            </a:r>
          </a:p>
          <a:p>
            <a:pPr algn="l" marL="1211581" indent="-403860" lvl="2">
              <a:lnSpc>
                <a:spcPts val="7420"/>
              </a:lnSpc>
              <a:buFont typeface="Arial"/>
              <a:buChar char="⚬"/>
            </a:pPr>
            <a:r>
              <a:rPr lang="en-US" sz="5299" spc="115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Loops and conditions used for control flow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4FBFE">
                <a:alpha val="100000"/>
              </a:srgbClr>
            </a:gs>
            <a:gs pos="74000">
              <a:srgbClr val="99DAF3">
                <a:alpha val="100000"/>
              </a:srgbClr>
            </a:gs>
            <a:gs pos="83000">
              <a:srgbClr val="99DAF3">
                <a:alpha val="100000"/>
              </a:srgbClr>
            </a:gs>
            <a:gs pos="100000">
              <a:srgbClr val="BBE6F7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329860">
            <a:off x="433245" y="1906238"/>
            <a:ext cx="1419520" cy="19050"/>
            <a:chOff x="0" y="0"/>
            <a:chExt cx="1892694" cy="25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92681" cy="25400"/>
            </a:xfrm>
            <a:custGeom>
              <a:avLst/>
              <a:gdLst/>
              <a:ahLst/>
              <a:cxnLst/>
              <a:rect r="r" b="b" t="t" l="l"/>
              <a:pathLst>
                <a:path h="25400" w="1892681">
                  <a:moveTo>
                    <a:pt x="12700" y="0"/>
                  </a:moveTo>
                  <a:lnTo>
                    <a:pt x="1879981" y="0"/>
                  </a:lnTo>
                  <a:cubicBezTo>
                    <a:pt x="1886966" y="0"/>
                    <a:pt x="1892681" y="5715"/>
                    <a:pt x="1892681" y="12700"/>
                  </a:cubicBezTo>
                  <a:cubicBezTo>
                    <a:pt x="1892681" y="19685"/>
                    <a:pt x="1886966" y="25400"/>
                    <a:pt x="1879981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1CADE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159120" y="726948"/>
            <a:ext cx="13422249" cy="8821388"/>
            <a:chOff x="0" y="0"/>
            <a:chExt cx="17896332" cy="117618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896332" cy="11761851"/>
            </a:xfrm>
            <a:custGeom>
              <a:avLst/>
              <a:gdLst/>
              <a:ahLst/>
              <a:cxnLst/>
              <a:rect r="r" b="b" t="t" l="l"/>
              <a:pathLst>
                <a:path h="11761851" w="17896332">
                  <a:moveTo>
                    <a:pt x="0" y="0"/>
                  </a:moveTo>
                  <a:lnTo>
                    <a:pt x="17896332" y="0"/>
                  </a:lnTo>
                  <a:lnTo>
                    <a:pt x="17896332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40404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203993" y="1182624"/>
            <a:ext cx="11884895" cy="2249424"/>
            <a:chOff x="0" y="0"/>
            <a:chExt cx="15846527" cy="29992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846552" cy="2999232"/>
            </a:xfrm>
            <a:custGeom>
              <a:avLst/>
              <a:gdLst/>
              <a:ahLst/>
              <a:cxnLst/>
              <a:rect r="r" b="b" t="t" l="l"/>
              <a:pathLst>
                <a:path h="2999232" w="15846552">
                  <a:moveTo>
                    <a:pt x="0" y="0"/>
                  </a:moveTo>
                  <a:lnTo>
                    <a:pt x="15846552" y="0"/>
                  </a:lnTo>
                  <a:lnTo>
                    <a:pt x="15846552" y="2999232"/>
                  </a:lnTo>
                  <a:lnTo>
                    <a:pt x="0" y="2999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878" r="0" b="-5287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203993" y="1296924"/>
            <a:ext cx="11884895" cy="2135124"/>
            <a:chOff x="0" y="0"/>
            <a:chExt cx="15846527" cy="28468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846527" cy="2846832"/>
            </a:xfrm>
            <a:custGeom>
              <a:avLst/>
              <a:gdLst/>
              <a:ahLst/>
              <a:cxnLst/>
              <a:rect r="r" b="b" t="t" l="l"/>
              <a:pathLst>
                <a:path h="2846832" w="15846527">
                  <a:moveTo>
                    <a:pt x="0" y="0"/>
                  </a:moveTo>
                  <a:lnTo>
                    <a:pt x="15846527" y="0"/>
                  </a:lnTo>
                  <a:lnTo>
                    <a:pt x="15846527" y="2846832"/>
                  </a:lnTo>
                  <a:lnTo>
                    <a:pt x="0" y="2846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460" r="0" b="-5846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52400"/>
              <a:ext cx="15846527" cy="2694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7500" spc="164">
                  <a:solidFill>
                    <a:srgbClr val="FFFFFF"/>
                  </a:solidFill>
                  <a:latin typeface="Big Shoulders Display"/>
                  <a:ea typeface="Big Shoulders Display"/>
                  <a:cs typeface="Big Shoulders Display"/>
                  <a:sym typeface="Big Shoulders Display"/>
                </a:rPr>
                <a:t>Results &amp; Discussion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12727" y="726948"/>
            <a:ext cx="3193447" cy="8821388"/>
            <a:chOff x="0" y="0"/>
            <a:chExt cx="4257929" cy="117618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57929" cy="11761851"/>
            </a:xfrm>
            <a:custGeom>
              <a:avLst/>
              <a:gdLst/>
              <a:ahLst/>
              <a:cxnLst/>
              <a:rect r="r" b="b" t="t" l="l"/>
              <a:pathLst>
                <a:path h="11761851" w="4257929">
                  <a:moveTo>
                    <a:pt x="0" y="0"/>
                  </a:moveTo>
                  <a:lnTo>
                    <a:pt x="4257929" y="0"/>
                  </a:lnTo>
                  <a:lnTo>
                    <a:pt x="4257929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1CADE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-5329860">
            <a:off x="4101036" y="2211038"/>
            <a:ext cx="1419520" cy="19050"/>
            <a:chOff x="0" y="0"/>
            <a:chExt cx="1892694" cy="25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92681" cy="25400"/>
            </a:xfrm>
            <a:custGeom>
              <a:avLst/>
              <a:gdLst/>
              <a:ahLst/>
              <a:cxnLst/>
              <a:rect r="r" b="b" t="t" l="l"/>
              <a:pathLst>
                <a:path h="25400" w="1892681">
                  <a:moveTo>
                    <a:pt x="12700" y="0"/>
                  </a:moveTo>
                  <a:lnTo>
                    <a:pt x="1879981" y="0"/>
                  </a:lnTo>
                  <a:cubicBezTo>
                    <a:pt x="1886966" y="0"/>
                    <a:pt x="1892681" y="5715"/>
                    <a:pt x="1892681" y="12700"/>
                  </a:cubicBezTo>
                  <a:cubicBezTo>
                    <a:pt x="1892681" y="19685"/>
                    <a:pt x="1886966" y="25400"/>
                    <a:pt x="1879981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1CADE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49678" y="982247"/>
            <a:ext cx="2817019" cy="704278"/>
            <a:chOff x="0" y="0"/>
            <a:chExt cx="3756025" cy="939038"/>
          </a:xfrm>
        </p:grpSpPr>
        <p:sp>
          <p:nvSpPr>
            <p:cNvPr name="Freeform 18" id="18" descr="A blue and red logo  AI-generated content may be incorrect."/>
            <p:cNvSpPr/>
            <p:nvPr/>
          </p:nvSpPr>
          <p:spPr>
            <a:xfrm flipH="false" flipV="false" rot="0">
              <a:off x="0" y="0"/>
              <a:ext cx="3756025" cy="939038"/>
            </a:xfrm>
            <a:custGeom>
              <a:avLst/>
              <a:gdLst/>
              <a:ahLst/>
              <a:cxnLst/>
              <a:rect r="r" b="b" t="t" l="l"/>
              <a:pathLst>
                <a:path h="939038" w="3756025">
                  <a:moveTo>
                    <a:pt x="0" y="0"/>
                  </a:moveTo>
                  <a:lnTo>
                    <a:pt x="3756025" y="0"/>
                  </a:lnTo>
                  <a:lnTo>
                    <a:pt x="3756025" y="939038"/>
                  </a:lnTo>
                  <a:lnTo>
                    <a:pt x="0" y="939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49678" y="884901"/>
            <a:ext cx="2816990" cy="8419852"/>
            <a:chOff x="0" y="0"/>
            <a:chExt cx="3755987" cy="11226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756025" cy="11226419"/>
            </a:xfrm>
            <a:custGeom>
              <a:avLst/>
              <a:gdLst/>
              <a:ahLst/>
              <a:cxnLst/>
              <a:rect r="r" b="b" t="t" l="l"/>
              <a:pathLst>
                <a:path h="11226419" w="3756025">
                  <a:moveTo>
                    <a:pt x="0" y="0"/>
                  </a:moveTo>
                  <a:lnTo>
                    <a:pt x="3756025" y="0"/>
                  </a:lnTo>
                  <a:lnTo>
                    <a:pt x="3756025" y="11226419"/>
                  </a:lnTo>
                  <a:lnTo>
                    <a:pt x="0" y="112264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3757" t="0" r="-333755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49678" y="934907"/>
            <a:ext cx="2816981" cy="8369846"/>
            <a:chOff x="0" y="0"/>
            <a:chExt cx="3755974" cy="1115979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755975" cy="11159797"/>
            </a:xfrm>
            <a:custGeom>
              <a:avLst/>
              <a:gdLst/>
              <a:ahLst/>
              <a:cxnLst/>
              <a:rect r="r" b="b" t="t" l="l"/>
              <a:pathLst>
                <a:path h="11159797" w="3755975">
                  <a:moveTo>
                    <a:pt x="0" y="0"/>
                  </a:moveTo>
                  <a:lnTo>
                    <a:pt x="3755975" y="0"/>
                  </a:lnTo>
                  <a:lnTo>
                    <a:pt x="3755975" y="11159797"/>
                  </a:lnTo>
                  <a:lnTo>
                    <a:pt x="0" y="11159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1217" t="0" r="-331217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66675"/>
              <a:ext cx="3755974" cy="11093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3000" spc="154">
                  <a:solidFill>
                    <a:srgbClr val="FFFFFF"/>
                  </a:solidFill>
                  <a:latin typeface="Big Shoulders Display"/>
                  <a:ea typeface="Big Shoulders Display"/>
                  <a:cs typeface="Big Shoulders Display"/>
                  <a:sym typeface="Big Shoulders Display"/>
                </a:rPr>
                <a:t>JAVA MINI PROJECT PRESENTATION 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5203993" y="3633121"/>
            <a:ext cx="9293781" cy="3808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11581" indent="-403860" lvl="2">
              <a:lnSpc>
                <a:spcPts val="7420"/>
              </a:lnSpc>
              <a:buFont typeface="Arial"/>
              <a:buChar char="⚬"/>
            </a:pPr>
            <a:r>
              <a:rPr lang="en-US" sz="5299" spc="115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System successfully processes orders</a:t>
            </a:r>
          </a:p>
          <a:p>
            <a:pPr algn="l" marL="1211581" indent="-403860" lvl="2">
              <a:lnSpc>
                <a:spcPts val="7420"/>
              </a:lnSpc>
              <a:buFont typeface="Arial"/>
              <a:buChar char="⚬"/>
            </a:pPr>
            <a:r>
              <a:rPr lang="en-US" sz="5299" spc="115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Reduces manual calculation errors</a:t>
            </a:r>
          </a:p>
          <a:p>
            <a:pPr algn="l" marL="1211581" indent="-403860" lvl="2">
              <a:lnSpc>
                <a:spcPts val="7420"/>
              </a:lnSpc>
              <a:buFont typeface="Arial"/>
              <a:buChar char="⚬"/>
            </a:pPr>
            <a:r>
              <a:rPr lang="en-US" sz="5299" spc="115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Easy to use and efficient</a:t>
            </a:r>
          </a:p>
          <a:p>
            <a:pPr algn="l" marL="1211581" indent="-403860" lvl="2">
              <a:lnSpc>
                <a:spcPts val="7420"/>
              </a:lnSpc>
              <a:buFont typeface="Arial"/>
              <a:buChar char="⚬"/>
            </a:pPr>
            <a:r>
              <a:rPr lang="en-US" sz="5299" spc="115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Can be enhanced with GUI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4FBFE">
                <a:alpha val="100000"/>
              </a:srgbClr>
            </a:gs>
            <a:gs pos="74000">
              <a:srgbClr val="99DAF3">
                <a:alpha val="100000"/>
              </a:srgbClr>
            </a:gs>
            <a:gs pos="83000">
              <a:srgbClr val="99DAF3">
                <a:alpha val="100000"/>
              </a:srgbClr>
            </a:gs>
            <a:gs pos="100000">
              <a:srgbClr val="BBE6F7">
                <a:alpha val="100000"/>
              </a:srgbClr>
            </a:gs>
          </a:gsLst>
          <a:lin ang="5400012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6140">
            <a:off x="433187" y="1906276"/>
            <a:ext cx="1419568" cy="0"/>
          </a:xfrm>
          <a:prstGeom prst="line">
            <a:avLst/>
          </a:prstGeom>
          <a:ln cap="rnd" w="19050">
            <a:solidFill>
              <a:srgbClr val="1CAD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4159120" y="726948"/>
            <a:ext cx="13422249" cy="8821388"/>
            <a:chOff x="0" y="0"/>
            <a:chExt cx="17896332" cy="117618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896332" cy="11761851"/>
            </a:xfrm>
            <a:custGeom>
              <a:avLst/>
              <a:gdLst/>
              <a:ahLst/>
              <a:cxnLst/>
              <a:rect r="r" b="b" t="t" l="l"/>
              <a:pathLst>
                <a:path h="11761851" w="17896332">
                  <a:moveTo>
                    <a:pt x="0" y="0"/>
                  </a:moveTo>
                  <a:lnTo>
                    <a:pt x="17896332" y="0"/>
                  </a:lnTo>
                  <a:lnTo>
                    <a:pt x="17896332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40404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203993" y="1182624"/>
            <a:ext cx="11884895" cy="2249424"/>
            <a:chOff x="0" y="0"/>
            <a:chExt cx="15846527" cy="29992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846552" cy="2999232"/>
            </a:xfrm>
            <a:custGeom>
              <a:avLst/>
              <a:gdLst/>
              <a:ahLst/>
              <a:cxnLst/>
              <a:rect r="r" b="b" t="t" l="l"/>
              <a:pathLst>
                <a:path h="2999232" w="15846552">
                  <a:moveTo>
                    <a:pt x="0" y="0"/>
                  </a:moveTo>
                  <a:lnTo>
                    <a:pt x="15846552" y="0"/>
                  </a:lnTo>
                  <a:lnTo>
                    <a:pt x="15846552" y="2999232"/>
                  </a:lnTo>
                  <a:lnTo>
                    <a:pt x="0" y="2999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878" r="0" b="-5287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203993" y="1296924"/>
            <a:ext cx="11884952" cy="2135029"/>
            <a:chOff x="0" y="0"/>
            <a:chExt cx="15846603" cy="28467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846600" cy="2846700"/>
            </a:xfrm>
            <a:custGeom>
              <a:avLst/>
              <a:gdLst/>
              <a:ahLst/>
              <a:cxnLst/>
              <a:rect r="r" b="b" t="t" l="l"/>
              <a:pathLst>
                <a:path h="2846700" w="15846600">
                  <a:moveTo>
                    <a:pt x="0" y="0"/>
                  </a:moveTo>
                  <a:lnTo>
                    <a:pt x="15846600" y="0"/>
                  </a:lnTo>
                  <a:lnTo>
                    <a:pt x="15846600" y="2846700"/>
                  </a:lnTo>
                  <a:lnTo>
                    <a:pt x="0" y="2846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466" r="0" b="-5846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15846603" cy="2827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500">
                  <a:solidFill>
                    <a:srgbClr val="FFFFFF"/>
                  </a:solidFill>
                  <a:latin typeface="Big Shoulders Display"/>
                  <a:ea typeface="Big Shoulders Display"/>
                  <a:cs typeface="Big Shoulders Display"/>
                  <a:sym typeface="Big Shoulders Display"/>
                </a:rPr>
                <a:t>Conclusion &amp; Future Enhancement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2727" y="726948"/>
            <a:ext cx="3193447" cy="8821388"/>
            <a:chOff x="0" y="0"/>
            <a:chExt cx="4257929" cy="1176185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57929" cy="11761851"/>
            </a:xfrm>
            <a:custGeom>
              <a:avLst/>
              <a:gdLst/>
              <a:ahLst/>
              <a:cxnLst/>
              <a:rect r="r" b="b" t="t" l="l"/>
              <a:pathLst>
                <a:path h="11761851" w="4257929">
                  <a:moveTo>
                    <a:pt x="0" y="0"/>
                  </a:moveTo>
                  <a:lnTo>
                    <a:pt x="4257929" y="0"/>
                  </a:lnTo>
                  <a:lnTo>
                    <a:pt x="4257929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1CADE4"/>
            </a:solidFill>
          </p:spPr>
        </p:sp>
      </p:grpSp>
      <p:sp>
        <p:nvSpPr>
          <p:cNvPr name="AutoShape 14" id="14"/>
          <p:cNvSpPr/>
          <p:nvPr/>
        </p:nvSpPr>
        <p:spPr>
          <a:xfrm rot="46140">
            <a:off x="4100979" y="2211076"/>
            <a:ext cx="1419568" cy="0"/>
          </a:xfrm>
          <a:prstGeom prst="line">
            <a:avLst/>
          </a:prstGeom>
          <a:ln cap="rnd" w="19050">
            <a:solidFill>
              <a:srgbClr val="1CAD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849678" y="982247"/>
            <a:ext cx="2817019" cy="704278"/>
            <a:chOff x="0" y="0"/>
            <a:chExt cx="3756025" cy="939038"/>
          </a:xfrm>
        </p:grpSpPr>
        <p:sp>
          <p:nvSpPr>
            <p:cNvPr name="Freeform 16" id="16" descr="A blue and red logo  AI-generated content may be incorrect."/>
            <p:cNvSpPr/>
            <p:nvPr/>
          </p:nvSpPr>
          <p:spPr>
            <a:xfrm flipH="false" flipV="false" rot="0">
              <a:off x="0" y="0"/>
              <a:ext cx="3756025" cy="939038"/>
            </a:xfrm>
            <a:custGeom>
              <a:avLst/>
              <a:gdLst/>
              <a:ahLst/>
              <a:cxnLst/>
              <a:rect r="r" b="b" t="t" l="l"/>
              <a:pathLst>
                <a:path h="939038" w="3756025">
                  <a:moveTo>
                    <a:pt x="0" y="0"/>
                  </a:moveTo>
                  <a:lnTo>
                    <a:pt x="3756025" y="0"/>
                  </a:lnTo>
                  <a:lnTo>
                    <a:pt x="3756025" y="939038"/>
                  </a:lnTo>
                  <a:lnTo>
                    <a:pt x="0" y="939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49678" y="884901"/>
            <a:ext cx="2816981" cy="8419852"/>
            <a:chOff x="0" y="0"/>
            <a:chExt cx="3755974" cy="11226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56025" cy="11226419"/>
            </a:xfrm>
            <a:custGeom>
              <a:avLst/>
              <a:gdLst/>
              <a:ahLst/>
              <a:cxnLst/>
              <a:rect r="r" b="b" t="t" l="l"/>
              <a:pathLst>
                <a:path h="11226419" w="3756025">
                  <a:moveTo>
                    <a:pt x="0" y="0"/>
                  </a:moveTo>
                  <a:lnTo>
                    <a:pt x="3756025" y="0"/>
                  </a:lnTo>
                  <a:lnTo>
                    <a:pt x="3756025" y="11226419"/>
                  </a:lnTo>
                  <a:lnTo>
                    <a:pt x="0" y="112264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3757" t="0" r="-333755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49678" y="934907"/>
            <a:ext cx="2817000" cy="8369779"/>
            <a:chOff x="0" y="0"/>
            <a:chExt cx="3756000" cy="1115970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756000" cy="11159701"/>
            </a:xfrm>
            <a:custGeom>
              <a:avLst/>
              <a:gdLst/>
              <a:ahLst/>
              <a:cxnLst/>
              <a:rect r="r" b="b" t="t" l="l"/>
              <a:pathLst>
                <a:path h="11159701" w="3756000">
                  <a:moveTo>
                    <a:pt x="0" y="0"/>
                  </a:moveTo>
                  <a:lnTo>
                    <a:pt x="3756000" y="0"/>
                  </a:lnTo>
                  <a:lnTo>
                    <a:pt x="3756000" y="11159701"/>
                  </a:lnTo>
                  <a:lnTo>
                    <a:pt x="0" y="111597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1211" t="0" r="-331211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3756000" cy="11150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4"/>
                </a:lnSpc>
              </a:pPr>
              <a:r>
                <a:rPr lang="en-US" sz="3000">
                  <a:solidFill>
                    <a:srgbClr val="FFFFFF"/>
                  </a:solidFill>
                  <a:latin typeface="Big Shoulders Display"/>
                  <a:ea typeface="Big Shoulders Display"/>
                  <a:cs typeface="Big Shoulders Display"/>
                  <a:sym typeface="Big Shoulders Display"/>
                </a:rPr>
                <a:t>JAVA MINI PROJECT PRESENTATION 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5525348" y="2673001"/>
            <a:ext cx="8281726" cy="6875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1"/>
              </a:lnSpc>
            </a:pPr>
            <a:r>
              <a:rPr lang="en-US" sz="3625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Conclusion</a:t>
            </a:r>
          </a:p>
          <a:p>
            <a:pPr algn="l" marL="828850" indent="-276283" lvl="2">
              <a:lnSpc>
                <a:spcPts val="6091"/>
              </a:lnSpc>
              <a:buFont typeface="Arial"/>
              <a:buChar char="⚬"/>
            </a:pPr>
            <a:r>
              <a:rPr lang="en-US" sz="3625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The system simplifies order processing and billing.</a:t>
            </a:r>
          </a:p>
          <a:p>
            <a:pPr algn="l" marL="828850" indent="-276283" lvl="2">
              <a:lnSpc>
                <a:spcPts val="6091"/>
              </a:lnSpc>
              <a:buFont typeface="Arial"/>
              <a:buChar char="⚬"/>
            </a:pPr>
            <a:r>
              <a:rPr lang="en-US" sz="3625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Reduces errors and saves time.</a:t>
            </a:r>
          </a:p>
          <a:p>
            <a:pPr algn="l" marL="828850" indent="-276283" lvl="2">
              <a:lnSpc>
                <a:spcPts val="6091"/>
              </a:lnSpc>
              <a:buFont typeface="Arial"/>
              <a:buChar char="⚬"/>
            </a:pPr>
            <a:r>
              <a:rPr lang="en-US" sz="3625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Easy to use and suitable for small restaurants.</a:t>
            </a:r>
          </a:p>
          <a:p>
            <a:pPr algn="l">
              <a:lnSpc>
                <a:spcPts val="6091"/>
              </a:lnSpc>
            </a:pPr>
            <a:r>
              <a:rPr lang="en-US" sz="3625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Future Enhancement</a:t>
            </a:r>
          </a:p>
          <a:p>
            <a:pPr algn="l" marL="828850" indent="-276283" lvl="2">
              <a:lnSpc>
                <a:spcPts val="6091"/>
              </a:lnSpc>
              <a:buFont typeface="Arial"/>
              <a:buChar char="⚬"/>
            </a:pPr>
            <a:r>
              <a:rPr lang="en-US" sz="3625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Add GUI (Swing/JavaFX)</a:t>
            </a:r>
          </a:p>
          <a:p>
            <a:pPr algn="l" marL="828850" indent="-276283" lvl="2">
              <a:lnSpc>
                <a:spcPts val="6091"/>
              </a:lnSpc>
              <a:buFont typeface="Arial"/>
              <a:buChar char="⚬"/>
            </a:pPr>
            <a:r>
              <a:rPr lang="en-US" sz="3625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Connect with database (MySQL)</a:t>
            </a:r>
          </a:p>
          <a:p>
            <a:pPr algn="l" marL="828850" indent="-276283" lvl="2">
              <a:lnSpc>
                <a:spcPts val="6091"/>
              </a:lnSpc>
              <a:buFont typeface="Arial"/>
              <a:buChar char="⚬"/>
            </a:pPr>
            <a:r>
              <a:rPr lang="en-US" sz="3625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Enable online ordering &amp; payment</a:t>
            </a:r>
          </a:p>
          <a:p>
            <a:pPr algn="l" marL="828850" indent="-276283" lvl="2">
              <a:lnSpc>
                <a:spcPts val="6091"/>
              </a:lnSpc>
              <a:buFont typeface="Arial"/>
              <a:buChar char="⚬"/>
            </a:pPr>
            <a:r>
              <a:rPr lang="en-US" sz="3625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Add bill printing and inventory system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4FBFE">
                <a:alpha val="100000"/>
              </a:srgbClr>
            </a:gs>
            <a:gs pos="74000">
              <a:srgbClr val="99DAF3">
                <a:alpha val="100000"/>
              </a:srgbClr>
            </a:gs>
            <a:gs pos="83000">
              <a:srgbClr val="99DAF3">
                <a:alpha val="100000"/>
              </a:srgbClr>
            </a:gs>
            <a:gs pos="100000">
              <a:srgbClr val="BBE6F7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329860">
            <a:off x="433245" y="1906238"/>
            <a:ext cx="1419520" cy="19050"/>
            <a:chOff x="0" y="0"/>
            <a:chExt cx="1892694" cy="25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92681" cy="25400"/>
            </a:xfrm>
            <a:custGeom>
              <a:avLst/>
              <a:gdLst/>
              <a:ahLst/>
              <a:cxnLst/>
              <a:rect r="r" b="b" t="t" l="l"/>
              <a:pathLst>
                <a:path h="25400" w="1892681">
                  <a:moveTo>
                    <a:pt x="12700" y="0"/>
                  </a:moveTo>
                  <a:lnTo>
                    <a:pt x="1879981" y="0"/>
                  </a:lnTo>
                  <a:cubicBezTo>
                    <a:pt x="1886966" y="0"/>
                    <a:pt x="1892681" y="5715"/>
                    <a:pt x="1892681" y="12700"/>
                  </a:cubicBezTo>
                  <a:cubicBezTo>
                    <a:pt x="1892681" y="19685"/>
                    <a:pt x="1886966" y="25400"/>
                    <a:pt x="1879981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1CADE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159120" y="726948"/>
            <a:ext cx="13422249" cy="8821388"/>
            <a:chOff x="0" y="0"/>
            <a:chExt cx="17896332" cy="117618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896332" cy="11761851"/>
            </a:xfrm>
            <a:custGeom>
              <a:avLst/>
              <a:gdLst/>
              <a:ahLst/>
              <a:cxnLst/>
              <a:rect r="r" b="b" t="t" l="l"/>
              <a:pathLst>
                <a:path h="11761851" w="17896332">
                  <a:moveTo>
                    <a:pt x="0" y="0"/>
                  </a:moveTo>
                  <a:lnTo>
                    <a:pt x="17896332" y="0"/>
                  </a:lnTo>
                  <a:lnTo>
                    <a:pt x="17896332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40404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203993" y="1182624"/>
            <a:ext cx="11884895" cy="2249424"/>
            <a:chOff x="0" y="0"/>
            <a:chExt cx="15846527" cy="29992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846552" cy="2999232"/>
            </a:xfrm>
            <a:custGeom>
              <a:avLst/>
              <a:gdLst/>
              <a:ahLst/>
              <a:cxnLst/>
              <a:rect r="r" b="b" t="t" l="l"/>
              <a:pathLst>
                <a:path h="2999232" w="15846552">
                  <a:moveTo>
                    <a:pt x="0" y="0"/>
                  </a:moveTo>
                  <a:lnTo>
                    <a:pt x="15846552" y="0"/>
                  </a:lnTo>
                  <a:lnTo>
                    <a:pt x="15846552" y="2999232"/>
                  </a:lnTo>
                  <a:lnTo>
                    <a:pt x="0" y="2999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878" r="0" b="-5287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203993" y="1296924"/>
            <a:ext cx="11884895" cy="2135124"/>
            <a:chOff x="0" y="0"/>
            <a:chExt cx="15846527" cy="28468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846527" cy="2846832"/>
            </a:xfrm>
            <a:custGeom>
              <a:avLst/>
              <a:gdLst/>
              <a:ahLst/>
              <a:cxnLst/>
              <a:rect r="r" b="b" t="t" l="l"/>
              <a:pathLst>
                <a:path h="2846832" w="15846527">
                  <a:moveTo>
                    <a:pt x="0" y="0"/>
                  </a:moveTo>
                  <a:lnTo>
                    <a:pt x="15846527" y="0"/>
                  </a:lnTo>
                  <a:lnTo>
                    <a:pt x="15846527" y="2846832"/>
                  </a:lnTo>
                  <a:lnTo>
                    <a:pt x="0" y="2846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460" r="0" b="-5846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52400"/>
              <a:ext cx="15846527" cy="2694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7500" spc="164">
                  <a:solidFill>
                    <a:srgbClr val="FFFFFF"/>
                  </a:solidFill>
                  <a:latin typeface="Big Shoulders Display"/>
                  <a:ea typeface="Big Shoulders Display"/>
                  <a:cs typeface="Big Shoulders Display"/>
                  <a:sym typeface="Big Shoulders Display"/>
                </a:rPr>
                <a:t>References / Acknowledgement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12727" y="726948"/>
            <a:ext cx="3193447" cy="8821388"/>
            <a:chOff x="0" y="0"/>
            <a:chExt cx="4257929" cy="117618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57929" cy="11761851"/>
            </a:xfrm>
            <a:custGeom>
              <a:avLst/>
              <a:gdLst/>
              <a:ahLst/>
              <a:cxnLst/>
              <a:rect r="r" b="b" t="t" l="l"/>
              <a:pathLst>
                <a:path h="11761851" w="4257929">
                  <a:moveTo>
                    <a:pt x="0" y="0"/>
                  </a:moveTo>
                  <a:lnTo>
                    <a:pt x="4257929" y="0"/>
                  </a:lnTo>
                  <a:lnTo>
                    <a:pt x="4257929" y="11761851"/>
                  </a:lnTo>
                  <a:lnTo>
                    <a:pt x="0" y="11761851"/>
                  </a:lnTo>
                  <a:close/>
                </a:path>
              </a:pathLst>
            </a:custGeom>
            <a:solidFill>
              <a:srgbClr val="1CADE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-5329860">
            <a:off x="4101036" y="2211038"/>
            <a:ext cx="1419520" cy="19050"/>
            <a:chOff x="0" y="0"/>
            <a:chExt cx="1892694" cy="25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92681" cy="25400"/>
            </a:xfrm>
            <a:custGeom>
              <a:avLst/>
              <a:gdLst/>
              <a:ahLst/>
              <a:cxnLst/>
              <a:rect r="r" b="b" t="t" l="l"/>
              <a:pathLst>
                <a:path h="25400" w="1892681">
                  <a:moveTo>
                    <a:pt x="12700" y="0"/>
                  </a:moveTo>
                  <a:lnTo>
                    <a:pt x="1879981" y="0"/>
                  </a:lnTo>
                  <a:cubicBezTo>
                    <a:pt x="1886966" y="0"/>
                    <a:pt x="1892681" y="5715"/>
                    <a:pt x="1892681" y="12700"/>
                  </a:cubicBezTo>
                  <a:cubicBezTo>
                    <a:pt x="1892681" y="19685"/>
                    <a:pt x="1886966" y="25400"/>
                    <a:pt x="1879981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1CADE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49678" y="982247"/>
            <a:ext cx="2817019" cy="704278"/>
            <a:chOff x="0" y="0"/>
            <a:chExt cx="3756025" cy="939038"/>
          </a:xfrm>
        </p:grpSpPr>
        <p:sp>
          <p:nvSpPr>
            <p:cNvPr name="Freeform 18" id="18" descr="A blue and red logo  AI-generated content may be incorrect."/>
            <p:cNvSpPr/>
            <p:nvPr/>
          </p:nvSpPr>
          <p:spPr>
            <a:xfrm flipH="false" flipV="false" rot="0">
              <a:off x="0" y="0"/>
              <a:ext cx="3756025" cy="939038"/>
            </a:xfrm>
            <a:custGeom>
              <a:avLst/>
              <a:gdLst/>
              <a:ahLst/>
              <a:cxnLst/>
              <a:rect r="r" b="b" t="t" l="l"/>
              <a:pathLst>
                <a:path h="939038" w="3756025">
                  <a:moveTo>
                    <a:pt x="0" y="0"/>
                  </a:moveTo>
                  <a:lnTo>
                    <a:pt x="3756025" y="0"/>
                  </a:lnTo>
                  <a:lnTo>
                    <a:pt x="3756025" y="939038"/>
                  </a:lnTo>
                  <a:lnTo>
                    <a:pt x="0" y="939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49678" y="884901"/>
            <a:ext cx="2816990" cy="8419852"/>
            <a:chOff x="0" y="0"/>
            <a:chExt cx="3755987" cy="11226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756025" cy="11226419"/>
            </a:xfrm>
            <a:custGeom>
              <a:avLst/>
              <a:gdLst/>
              <a:ahLst/>
              <a:cxnLst/>
              <a:rect r="r" b="b" t="t" l="l"/>
              <a:pathLst>
                <a:path h="11226419" w="3756025">
                  <a:moveTo>
                    <a:pt x="0" y="0"/>
                  </a:moveTo>
                  <a:lnTo>
                    <a:pt x="3756025" y="0"/>
                  </a:lnTo>
                  <a:lnTo>
                    <a:pt x="3756025" y="11226419"/>
                  </a:lnTo>
                  <a:lnTo>
                    <a:pt x="0" y="112264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3757" t="0" r="-333755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49678" y="934907"/>
            <a:ext cx="2816981" cy="8369846"/>
            <a:chOff x="0" y="0"/>
            <a:chExt cx="3755974" cy="1115979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755975" cy="11159797"/>
            </a:xfrm>
            <a:custGeom>
              <a:avLst/>
              <a:gdLst/>
              <a:ahLst/>
              <a:cxnLst/>
              <a:rect r="r" b="b" t="t" l="l"/>
              <a:pathLst>
                <a:path h="11159797" w="3755975">
                  <a:moveTo>
                    <a:pt x="0" y="0"/>
                  </a:moveTo>
                  <a:lnTo>
                    <a:pt x="3755975" y="0"/>
                  </a:lnTo>
                  <a:lnTo>
                    <a:pt x="3755975" y="11159797"/>
                  </a:lnTo>
                  <a:lnTo>
                    <a:pt x="0" y="11159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1217" t="0" r="-331217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66675"/>
              <a:ext cx="3755974" cy="11093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3000" spc="154">
                  <a:solidFill>
                    <a:srgbClr val="FFFFFF"/>
                  </a:solidFill>
                  <a:latin typeface="Big Shoulders Display"/>
                  <a:ea typeface="Big Shoulders Display"/>
                  <a:cs typeface="Big Shoulders Display"/>
                  <a:sym typeface="Big Shoulders Display"/>
                </a:rPr>
                <a:t>JAVA MINI PROJECT PRESENTATION 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4710484" y="3705225"/>
            <a:ext cx="12333284" cy="3348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408203" indent="-469401" lvl="2">
              <a:lnSpc>
                <a:spcPts val="8623"/>
              </a:lnSpc>
              <a:buFont typeface="Arial"/>
              <a:buChar char="⚬"/>
            </a:pPr>
            <a:r>
              <a:rPr lang="en-US" sz="6159" spc="135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Java Programming Books</a:t>
            </a:r>
          </a:p>
          <a:p>
            <a:pPr algn="l" marL="1408203" indent="-469401" lvl="2">
              <a:lnSpc>
                <a:spcPts val="8623"/>
              </a:lnSpc>
              <a:buFont typeface="Arial"/>
              <a:buChar char="⚬"/>
            </a:pPr>
            <a:r>
              <a:rPr lang="en-US" sz="6159" spc="135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Online tutorials (GeeksforGeeks, W3Schools)</a:t>
            </a:r>
          </a:p>
          <a:p>
            <a:pPr algn="l" marL="1408203" indent="-469401" lvl="2">
              <a:lnSpc>
                <a:spcPts val="8623"/>
              </a:lnSpc>
              <a:buFont typeface="Arial"/>
              <a:buChar char="⚬"/>
            </a:pPr>
            <a:r>
              <a:rPr lang="en-US" sz="6159" spc="135">
                <a:solidFill>
                  <a:srgbClr val="FFFFFF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Class notes and materials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4FBFE">
                <a:alpha val="100000"/>
              </a:srgbClr>
            </a:gs>
            <a:gs pos="74000">
              <a:srgbClr val="99DAF3">
                <a:alpha val="100000"/>
              </a:srgbClr>
            </a:gs>
            <a:gs pos="83000">
              <a:srgbClr val="99DAF3">
                <a:alpha val="100000"/>
              </a:srgbClr>
            </a:gs>
            <a:gs pos="100000">
              <a:srgbClr val="BBE6F7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329860">
            <a:off x="433245" y="1906238"/>
            <a:ext cx="1419520" cy="19050"/>
            <a:chOff x="0" y="0"/>
            <a:chExt cx="1892694" cy="25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92681" cy="25400"/>
            </a:xfrm>
            <a:custGeom>
              <a:avLst/>
              <a:gdLst/>
              <a:ahLst/>
              <a:cxnLst/>
              <a:rect r="r" b="b" t="t" l="l"/>
              <a:pathLst>
                <a:path h="25400" w="1892681">
                  <a:moveTo>
                    <a:pt x="12700" y="0"/>
                  </a:moveTo>
                  <a:lnTo>
                    <a:pt x="1879981" y="0"/>
                  </a:lnTo>
                  <a:cubicBezTo>
                    <a:pt x="1886966" y="0"/>
                    <a:pt x="1892681" y="5715"/>
                    <a:pt x="1892681" y="12700"/>
                  </a:cubicBezTo>
                  <a:cubicBezTo>
                    <a:pt x="1892681" y="19685"/>
                    <a:pt x="1886966" y="25400"/>
                    <a:pt x="1879981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1CADE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1319" y="482594"/>
            <a:ext cx="17326737" cy="9321832"/>
            <a:chOff x="0" y="0"/>
            <a:chExt cx="23102316" cy="124291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102315" cy="12429109"/>
            </a:xfrm>
            <a:custGeom>
              <a:avLst/>
              <a:gdLst/>
              <a:ahLst/>
              <a:cxnLst/>
              <a:rect r="r" b="b" t="t" l="l"/>
              <a:pathLst>
                <a:path h="12429109" w="23102315">
                  <a:moveTo>
                    <a:pt x="0" y="0"/>
                  </a:moveTo>
                  <a:lnTo>
                    <a:pt x="23102315" y="0"/>
                  </a:lnTo>
                  <a:lnTo>
                    <a:pt x="23102315" y="12429109"/>
                  </a:lnTo>
                  <a:lnTo>
                    <a:pt x="0" y="12429109"/>
                  </a:lnTo>
                  <a:close/>
                </a:path>
              </a:pathLst>
            </a:custGeom>
            <a:solidFill>
              <a:srgbClr val="1CADE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531275" y="2228117"/>
            <a:ext cx="40163458" cy="5830757"/>
            <a:chOff x="0" y="0"/>
            <a:chExt cx="53551277" cy="77743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551330" cy="7774305"/>
            </a:xfrm>
            <a:custGeom>
              <a:avLst/>
              <a:gdLst/>
              <a:ahLst/>
              <a:cxnLst/>
              <a:rect r="r" b="b" t="t" l="l"/>
              <a:pathLst>
                <a:path h="7774305" w="53551330">
                  <a:moveTo>
                    <a:pt x="0" y="0"/>
                  </a:moveTo>
                  <a:lnTo>
                    <a:pt x="53551330" y="0"/>
                  </a:lnTo>
                  <a:lnTo>
                    <a:pt x="53551330" y="7774305"/>
                  </a:lnTo>
                  <a:lnTo>
                    <a:pt x="0" y="77743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124" r="0" b="-8412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31275" y="2524392"/>
            <a:ext cx="40163467" cy="5534473"/>
            <a:chOff x="0" y="0"/>
            <a:chExt cx="53551290" cy="73792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551286" cy="7379302"/>
            </a:xfrm>
            <a:custGeom>
              <a:avLst/>
              <a:gdLst/>
              <a:ahLst/>
              <a:cxnLst/>
              <a:rect r="r" b="b" t="t" l="l"/>
              <a:pathLst>
                <a:path h="7379302" w="53551286">
                  <a:moveTo>
                    <a:pt x="0" y="0"/>
                  </a:moveTo>
                  <a:lnTo>
                    <a:pt x="53551286" y="0"/>
                  </a:lnTo>
                  <a:lnTo>
                    <a:pt x="53551286" y="7379302"/>
                  </a:lnTo>
                  <a:lnTo>
                    <a:pt x="0" y="73793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402" r="0" b="-9140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52400"/>
              <a:ext cx="53551290" cy="7226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7500" spc="164">
                  <a:solidFill>
                    <a:srgbClr val="FFFFFF"/>
                  </a:solidFill>
                  <a:latin typeface="Big Shoulders Display"/>
                  <a:ea typeface="Big Shoulders Display"/>
                  <a:cs typeface="Big Shoulders Display"/>
                  <a:sym typeface="Big Shoulders Display"/>
                </a:rPr>
                <a:t>Thank You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-5329860">
            <a:off x="433245" y="1906238"/>
            <a:ext cx="1419520" cy="19050"/>
            <a:chOff x="0" y="0"/>
            <a:chExt cx="1892694" cy="25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92681" cy="25400"/>
            </a:xfrm>
            <a:custGeom>
              <a:avLst/>
              <a:gdLst/>
              <a:ahLst/>
              <a:cxnLst/>
              <a:rect r="r" b="b" t="t" l="l"/>
              <a:pathLst>
                <a:path h="25400" w="1892681">
                  <a:moveTo>
                    <a:pt x="12700" y="0"/>
                  </a:moveTo>
                  <a:lnTo>
                    <a:pt x="1879981" y="0"/>
                  </a:lnTo>
                  <a:cubicBezTo>
                    <a:pt x="1886966" y="0"/>
                    <a:pt x="1892681" y="5715"/>
                    <a:pt x="1892681" y="12700"/>
                  </a:cubicBezTo>
                  <a:cubicBezTo>
                    <a:pt x="1892681" y="19685"/>
                    <a:pt x="1886966" y="25400"/>
                    <a:pt x="1879981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1CADE4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DAHGhv9CXz4</dc:identifier>
  <dcterms:modified xsi:type="dcterms:W3CDTF">2011-08-01T06:04:30Z</dcterms:modified>
  <cp:revision>1</cp:revision>
  <dc:title>JAVA MINI PROJECT PRESENTATION _20260410_124335_0000.pptx</dc:title>
</cp:coreProperties>
</file>